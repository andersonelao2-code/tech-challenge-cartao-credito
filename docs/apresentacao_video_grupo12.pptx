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6e25f3b7-ec90-5dc9-5a92-ee5138f53853}">
          <p14:sldIdLst>
            <p14:sldId id="256"/>
          </p14:sldIdLst>
        </p14:section>
        <p14:section name="Problema e dados" id="{765d4d2e-53c7-357a-c163-cf918e62dd7b}">
          <p14:sldIdLst>
            <p14:sldId id="257"/>
            <p14:sldId id="258"/>
          </p14:sldIdLst>
        </p14:section>
        <p14:section name="Análise e preparação" id="{06d17a41-9475-926f-ed83-b459e8ae4649}">
          <p14:sldIdLst>
            <p14:sldId id="259"/>
            <p14:sldId id="260"/>
          </p14:sldIdLst>
        </p14:section>
        <p14:section name="Resultados" id="{b9fc9bdc-b9b6-9457-22f2-1e469b49dd99}">
          <p14:sldIdLst>
            <p14:sldId id="261"/>
            <p14:sldId id="262"/>
            <p14:sldId id="263"/>
          </p14:sldIdLst>
        </p14:section>
        <p14:section name="Limites e recomendação" id="{8e917e94-7ac4-6332-503a-d52abb1b93e3}">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de maus pagadores</c:v>
                </c:pt>
              </c:strCache>
            </c:strRef>
          </c:tx>
          <c:spPr>
            <a:solidFill>
              <a:srgbClr val="B0412E"/>
            </a:solidFill>
            <a:effectLst/>
          </c:spPr>
          <c:invertIfNegative val="0"/>
          <c:dLbls>
            <c:numFmt formatCode="0.0&quot;%&quot;"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dPt>
            <c:idx val="0"/>
            <c:invertIfNegative val="0"/>
            <c:bubble3D val="0"/>
            <c:spPr>
              <a:solidFill>
                <a:srgbClr val="B0412E"/>
              </a:solidFill>
              <a:effectLst/>
            </c:spPr>
          </c:dPt>
          <c:dPt>
            <c:idx val="1"/>
            <c:invertIfNegative val="0"/>
            <c:bubble3D val="0"/>
            <c:spPr>
              <a:solidFill>
                <a:srgbClr val="B0412E"/>
              </a:solidFill>
              <a:effectLst/>
            </c:spPr>
          </c:dPt>
          <c:dPt>
            <c:idx val="2"/>
            <c:invertIfNegative val="0"/>
            <c:bubble3D val="0"/>
            <c:spPr>
              <a:solidFill>
                <a:srgbClr val="B0412E"/>
              </a:solidFill>
              <a:effectLst/>
            </c:spPr>
          </c:dPt>
          <c:dPt>
            <c:idx val="3"/>
            <c:invertIfNegative val="0"/>
            <c:bubble3D val="0"/>
            <c:spPr>
              <a:solidFill>
                <a:srgbClr val="B0412E"/>
              </a:solidFill>
              <a:effectLst/>
            </c:spPr>
          </c:dPt>
          <c:dPt>
            <c:idx val="4"/>
            <c:invertIfNegative val="0"/>
            <c:bubble3D val="0"/>
            <c:spPr>
              <a:solidFill>
                <a:srgbClr val="B0412E"/>
              </a:solidFill>
              <a:effectLst/>
            </c:spPr>
          </c:dPt>
          <c:dPt>
            <c:idx val="5"/>
            <c:invertIfNegative val="0"/>
            <c:bubble3D val="0"/>
            <c:spPr>
              <a:solidFill>
                <a:srgbClr val="0F5C57"/>
              </a:solidFill>
              <a:effectLst/>
            </c:spPr>
          </c:dPt>
          <c:dPt>
            <c:idx val="6"/>
            <c:invertIfNegative val="0"/>
            <c:bubble3D val="0"/>
            <c:spPr>
              <a:solidFill>
                <a:srgbClr val="0F5C57"/>
              </a:solidFill>
              <a:effectLst/>
            </c:spPr>
          </c:dPt>
          <c:dPt>
            <c:idx val="7"/>
            <c:invertIfNegative val="0"/>
            <c:bubble3D val="0"/>
            <c:spPr>
              <a:solidFill>
                <a:srgbClr val="0F5C57"/>
              </a:solidFill>
              <a:effectLst/>
            </c:spPr>
          </c:dPt>
          <c:dPt>
            <c:idx val="8"/>
            <c:invertIfNegative val="0"/>
            <c:bubble3D val="0"/>
            <c:spPr>
              <a:solidFill>
                <a:srgbClr val="0F5C57"/>
              </a:solidFill>
              <a:effectLst/>
            </c:spPr>
          </c:dPt>
          <c:cat>
            <c:multiLvlStrRef>
              <c:f>Sheet1!$A$2:$A$10</c:f>
              <c:multiLvlStrCache>
                <c:ptCount val="9"/>
                <c:lvl>
                  <c:pt idx="0">
                    <c:v>Viúvos</c:v>
                  </c:pt>
                  <c:pt idx="1">
                    <c:v>Aposentados</c:v>
                  </c:pt>
                  <c:pt idx="2">
                    <c:v>Não têm imóvel</c:v>
                  </c:pt>
                  <c:pt idx="3">
                    <c:v>Solteiros</c:v>
                  </c:pt>
                  <c:pt idx="4">
                    <c:v>Homens</c:v>
                  </c:pt>
                  <c:pt idx="5">
                    <c:v>Casados</c:v>
                  </c:pt>
                  <c:pt idx="6">
                    <c:v>Mulheres</c:v>
                  </c:pt>
                  <c:pt idx="7">
                    <c:v>Têm imóvel próprio</c:v>
                  </c:pt>
                  <c:pt idx="8">
                    <c:v>Servidores públicos</c:v>
                  </c:pt>
                </c:lvl>
              </c:multiLvlStrCache>
            </c:multiLvlStrRef>
          </c:cat>
          <c:val>
            <c:numRef>
              <c:f>Sheet1!$B$2:$B$10</c:f>
              <c:numCache>
                <c:formatCode>General</c:formatCode>
                <c:ptCount val="9"/>
                <c:pt idx="0">
                  <c:v>2.94</c:v>
                </c:pt>
                <c:pt idx="1">
                  <c:v>2.11</c:v>
                </c:pt>
                <c:pt idx="2">
                  <c:v>2.1</c:v>
                </c:pt>
                <c:pt idx="3">
                  <c:v>2.09</c:v>
                </c:pt>
                <c:pt idx="4">
                  <c:v>1.97</c:v>
                </c:pt>
                <c:pt idx="5">
                  <c:v>1.57</c:v>
                </c:pt>
                <c:pt idx="6">
                  <c:v>1.55</c:v>
                </c:pt>
                <c:pt idx="7">
                  <c:v>1.49</c:v>
                </c:pt>
                <c:pt idx="8">
                  <c:v>1.24</c:v>
                </c:pt>
              </c:numCache>
            </c:numRef>
          </c:val>
        </c:ser>
        <c:dLbls>
          <c:numFmt formatCode="0.0&quot;%&quot;"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C2230"/>
                </a:solidFill>
                <a:latin typeface="+mn-lt"/>
              </a:defRPr>
            </a:pPr>
            <a:endParaRPr lang="en-US"/>
          </a:p>
        </c:txPr>
        <c:crossAx val="2094734552"/>
        <c:crosses val="autoZero"/>
        <c:auto val="1"/>
        <c:lblAlgn val="ctr"/>
        <c:noMultiLvlLbl val="1"/>
      </c:catAx>
      <c:valAx>
        <c:axId val="2094734552"/>
        <c:scaling>
          <c:orientation val="minMax"/>
          <c:max val="3.5"/>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2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ROC-AUC no teste</c:v>
                </c:pt>
              </c:strCache>
            </c:strRef>
          </c:tx>
          <c:spPr>
            <a:solidFill>
              <a:srgbClr val="D5D9DF"/>
            </a:solidFill>
            <a:effectLst/>
          </c:spPr>
          <c:invertIfNegative val="0"/>
          <c:dLbls>
            <c:numFmt formatCode="0.00"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dPt>
            <c:idx val="0"/>
            <c:invertIfNegative val="0"/>
            <c:bubble3D val="0"/>
            <c:spPr>
              <a:solidFill>
                <a:srgbClr val="D5D9DF"/>
              </a:solidFill>
              <a:effectLst/>
            </c:spPr>
          </c:dPt>
          <c:dPt>
            <c:idx val="1"/>
            <c:invertIfNegative val="0"/>
            <c:bubble3D val="0"/>
            <c:spPr>
              <a:solidFill>
                <a:srgbClr val="B9BFC9"/>
              </a:solidFill>
              <a:effectLst/>
            </c:spPr>
          </c:dPt>
          <c:dPt>
            <c:idx val="2"/>
            <c:invertIfNegative val="0"/>
            <c:bubble3D val="0"/>
            <c:spPr>
              <a:solidFill>
                <a:srgbClr val="B9BFC9"/>
              </a:solidFill>
              <a:effectLst/>
            </c:spPr>
          </c:dPt>
          <c:dPt>
            <c:idx val="3"/>
            <c:invertIfNegative val="0"/>
            <c:bubble3D val="0"/>
            <c:spPr>
              <a:solidFill>
                <a:srgbClr val="5FA39B"/>
              </a:solidFill>
              <a:effectLst/>
            </c:spPr>
          </c:dPt>
          <c:dPt>
            <c:idx val="4"/>
            <c:invertIfNegative val="0"/>
            <c:bubble3D val="0"/>
            <c:spPr>
              <a:solidFill>
                <a:srgbClr val="0F5C57"/>
              </a:solidFill>
              <a:effectLst/>
            </c:spPr>
          </c:dPt>
          <c:cat>
            <c:multiLvlStrRef>
              <c:f>Sheet1!$A$2:$A$6</c:f>
              <c:multiLvlStrCache>
                <c:ptCount val="5"/>
                <c:lvl>
                  <c:pt idx="0">
                    <c:v>Sorteio</c:v>
                  </c:pt>
                  <c:pt idx="1">
                    <c:v>Árvore de Decisão</c:v>
                  </c:pt>
                  <c:pt idx="2">
                    <c:v>Random Forest</c:v>
                  </c:pt>
                  <c:pt idx="3">
                    <c:v>Regressão Logística</c:v>
                  </c:pt>
                  <c:pt idx="4">
                    <c:v>XGBoost</c:v>
                  </c:pt>
                </c:lvl>
              </c:multiLvlStrCache>
            </c:multiLvlStrRef>
          </c:cat>
          <c:val>
            <c:numRef>
              <c:f>Sheet1!$B$2:$B$6</c:f>
              <c:numCache>
                <c:formatCode>General</c:formatCode>
                <c:ptCount val="5"/>
                <c:pt idx="0">
                  <c:v>0.5</c:v>
                </c:pt>
                <c:pt idx="1">
                  <c:v>0.7448</c:v>
                </c:pt>
                <c:pt idx="2">
                  <c:v>0.7497</c:v>
                </c:pt>
                <c:pt idx="3">
                  <c:v>0.788</c:v>
                </c:pt>
                <c:pt idx="4">
                  <c:v>0.7965</c:v>
                </c:pt>
              </c:numCache>
            </c:numRef>
          </c:val>
        </c:ser>
        <c:dLbls>
          <c:numFmt formatCode="0.00"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C2230"/>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2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 o modelo (XGBoost)</c:v>
                </c:pt>
              </c:strCache>
            </c:strRef>
          </c:tx>
          <c:spPr>
            <a:solidFill>
              <a:srgbClr val="0F5C57"/>
            </a:solidFill>
            <a:effectLst/>
          </c:spPr>
          <c:invertIfNegative val="0"/>
          <c:dLbls>
            <c:numFmt formatCode="0%"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cat>
            <c:multiLvlStrRef>
              <c:f>Sheet1!$A$2:$A$5</c:f>
              <c:multiLvlStrCache>
                <c:ptCount val="4"/>
                <c:lvl>
                  <c:pt idx="0">
                    <c:v>top 5%</c:v>
                  </c:pt>
                  <c:pt idx="1">
                    <c:v>top 10%</c:v>
                  </c:pt>
                  <c:pt idx="2">
                    <c:v>top 20%</c:v>
                  </c:pt>
                  <c:pt idx="3">
                    <c:v>top 30%</c:v>
                  </c:pt>
                </c:lvl>
              </c:multiLvlStrCache>
            </c:multiLvlStrRef>
          </c:cat>
          <c:val>
            <c:numRef>
              <c:f>Sheet1!$B$2:$B$5</c:f>
              <c:numCache>
                <c:formatCode>General</c:formatCode>
                <c:ptCount val="4"/>
                <c:pt idx="0">
                  <c:v>0.274</c:v>
                </c:pt>
                <c:pt idx="1">
                  <c:v>0.403</c:v>
                </c:pt>
                <c:pt idx="2">
                  <c:v>0.637</c:v>
                </c:pt>
                <c:pt idx="3">
                  <c:v>0.726</c:v>
                </c:pt>
              </c:numCache>
            </c:numRef>
          </c:val>
        </c:ser>
        <c:ser>
          <c:idx val="1"/>
          <c:order val="1"/>
          <c:tx>
            <c:strRef>
              <c:f>Sheet1!$C$1</c:f>
              <c:strCache>
                <c:ptCount val="1"/>
                <c:pt idx="0">
                  <c:v>Escolha aleatória</c:v>
                </c:pt>
              </c:strCache>
            </c:strRef>
          </c:tx>
          <c:spPr>
            <a:solidFill>
              <a:srgbClr val="B9BFC9"/>
            </a:solidFill>
            <a:effectLst/>
          </c:spPr>
          <c:invertIfNegative val="0"/>
          <c:dLbls>
            <c:numFmt formatCode="0%"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cat>
            <c:multiLvlStrRef>
              <c:f>Sheet1!$A$2:$A$5</c:f>
              <c:multiLvlStrCache>
                <c:ptCount val="4"/>
                <c:lvl>
                  <c:pt idx="0">
                    <c:v>top 5%</c:v>
                  </c:pt>
                  <c:pt idx="1">
                    <c:v>top 10%</c:v>
                  </c:pt>
                  <c:pt idx="2">
                    <c:v>top 20%</c:v>
                  </c:pt>
                  <c:pt idx="3">
                    <c:v>top 30%</c:v>
                  </c:pt>
                </c:lvl>
              </c:multiLvlStrCache>
            </c:multiLvlStrRef>
          </c:cat>
          <c:val>
            <c:numRef>
              <c:f>Sheet1!$C$2:$C$5</c:f>
              <c:numCache>
                <c:formatCode>General</c:formatCode>
                <c:ptCount val="4"/>
                <c:pt idx="0">
                  <c:v>0.05</c:v>
                </c:pt>
                <c:pt idx="1">
                  <c:v>0.1</c:v>
                </c:pt>
                <c:pt idx="2">
                  <c:v>0.2</c:v>
                </c:pt>
                <c:pt idx="3">
                  <c:v>0.3</c:v>
                </c:pt>
              </c:numCache>
            </c:numRef>
          </c:val>
        </c:ser>
        <c:dLbls>
          <c:numFmt formatCode="0%"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C223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272"/>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300">
              <a:solidFill>
                <a:srgbClr val="1C22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Peso relativo</c:v>
                </c:pt>
              </c:strCache>
            </c:strRef>
          </c:tx>
          <c:spPr>
            <a:solidFill>
              <a:srgbClr val="B9BFC9"/>
            </a:solidFill>
            <a:effectLst/>
          </c:spPr>
          <c:invertIfNegative val="0"/>
          <c:dLbls>
            <c:numFmt formatCode="0"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dPt>
            <c:idx val="0"/>
            <c:invertIfNegative val="0"/>
            <c:bubble3D val="0"/>
            <c:spPr>
              <a:solidFill>
                <a:srgbClr val="B9BFC9"/>
              </a:solidFill>
              <a:effectLst/>
            </c:spPr>
          </c:dPt>
          <c:dPt>
            <c:idx val="1"/>
            <c:invertIfNegative val="0"/>
            <c:bubble3D val="0"/>
            <c:spPr>
              <a:solidFill>
                <a:srgbClr val="B9BFC9"/>
              </a:solidFill>
              <a:effectLst/>
            </c:spPr>
          </c:dPt>
          <c:dPt>
            <c:idx val="2"/>
            <c:invertIfNegative val="0"/>
            <c:bubble3D val="0"/>
            <c:spPr>
              <a:solidFill>
                <a:srgbClr val="B9BFC9"/>
              </a:solidFill>
              <a:effectLst/>
            </c:spPr>
          </c:dPt>
          <c:dPt>
            <c:idx val="3"/>
            <c:invertIfNegative val="0"/>
            <c:bubble3D val="0"/>
            <c:spPr>
              <a:solidFill>
                <a:srgbClr val="B9BFC9"/>
              </a:solidFill>
              <a:effectLst/>
            </c:spPr>
          </c:dPt>
          <c:dPt>
            <c:idx val="4"/>
            <c:invertIfNegative val="0"/>
            <c:bubble3D val="0"/>
            <c:spPr>
              <a:solidFill>
                <a:srgbClr val="0F5C57"/>
              </a:solidFill>
              <a:effectLst/>
            </c:spPr>
          </c:dPt>
          <c:dPt>
            <c:idx val="5"/>
            <c:invertIfNegative val="0"/>
            <c:bubble3D val="0"/>
            <c:spPr>
              <a:solidFill>
                <a:srgbClr val="0F5C57"/>
              </a:solidFill>
              <a:effectLst/>
            </c:spPr>
          </c:dPt>
          <c:dPt>
            <c:idx val="6"/>
            <c:invertIfNegative val="0"/>
            <c:bubble3D val="0"/>
            <c:spPr>
              <a:solidFill>
                <a:srgbClr val="0F5C57"/>
              </a:solidFill>
              <a:effectLst/>
            </c:spPr>
          </c:dPt>
          <c:cat>
            <c:multiLvlStrRef>
              <c:f>Sheet1!$A$2:$A$8</c:f>
              <c:multiLvlStrCache>
                <c:ptCount val="7"/>
                <c:lvl>
                  <c:pt idx="0">
                    <c:v>Sem vínculo de emprego</c:v>
                  </c:pt>
                  <c:pt idx="1">
                    <c:v>Idade</c:v>
                  </c:pt>
                  <c:pt idx="2">
                    <c:v>Renda</c:v>
                  </c:pt>
                  <c:pt idx="3">
                    <c:v>Tempo de emprego</c:v>
                  </c:pt>
                  <c:pt idx="4">
                    <c:v>Meses sem crédito em uso</c:v>
                  </c:pt>
                  <c:pt idx="5">
                    <c:v>Meses quitando o saldo</c:v>
                  </c:pt>
                  <c:pt idx="6">
                    <c:v>Tempo de histórico</c:v>
                  </c:pt>
                </c:lvl>
              </c:multiLvlStrCache>
            </c:multiLvlStrRef>
          </c:cat>
          <c:val>
            <c:numRef>
              <c:f>Sheet1!$B$2:$B$8</c:f>
              <c:numCache>
                <c:formatCode>General</c:formatCode>
                <c:ptCount val="7"/>
                <c:pt idx="0">
                  <c:v>2</c:v>
                </c:pt>
                <c:pt idx="1">
                  <c:v>2.4</c:v>
                </c:pt>
                <c:pt idx="2">
                  <c:v>4</c:v>
                </c:pt>
                <c:pt idx="3">
                  <c:v>5</c:v>
                </c:pt>
                <c:pt idx="4">
                  <c:v>11</c:v>
                </c:pt>
                <c:pt idx="5">
                  <c:v>31</c:v>
                </c:pt>
                <c:pt idx="6">
                  <c:v>100</c:v>
                </c:pt>
              </c:numCache>
            </c:numRef>
          </c:val>
        </c:ser>
        <c:dLbls>
          <c:numFmt formatCode="0" sourceLinked="0"/>
          <c:txPr>
            <a:bodyPr/>
            <a:lstStyle/>
            <a:p>
              <a:pPr>
                <a:defRPr b="0" i="0" strike="noStrike" sz="1300" u="none">
                  <a:solidFill>
                    <a:srgbClr val="1C22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C2230"/>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2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Anderson
Olá! Nós somos o Grupo 12, da turma 12DTAT: Anderson, Jessika, Leticia e Pricilla. Neste vídeo vamos mostrar como usamos Machine Learning para ajudar um banco a decidir onde concentrar a análise dos pedidos de cartão de crédito.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0:20–0:50 · Anderson
Todo cartão aprovado para quem não paga vira prejuízo, e analisar cada pedido com o mesmo cuidado é caro e lento. Na nossa base, só 1,7% dos clientes deixaram de pagar duas faturas seguidas. É uma agulha no palheiro. Por isso a taxa de acerto engana: quem dissesse que todo mundo é bom pagador acertaria 98% das vezes, sem encontrar um único caso de risco. Então a nossa pergunta foi: dá para ordenar os pedidos pelo risco e mandar primeiro para análise os que mais precisam?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0:50–1:15 · Jessika
Usamos duas fontes: o cadastro de 438 mil solicitantes e mais de um milhão de registros mensais de pagamento. Juntando as duas, ficamos com 36 mil clientes. Como a base não diz quem foi aprovado, definimos como mau pagador quem atrasou 60 dias ou mais, ou seja, deixou de pagar duas faturas seguidas. Atrasos curtos são comuns, acontecem com três em cada quatro clientes, e não indicam risco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1:15–1:40 · Jessika
O primeiro achado da análise exploratória: não existe um perfil óbvio de mau pagador. Entre os grupos, a taxa varia só entre 1,2% e 2,9%. Nenhuma característica isolada resolve o problema. O sinal está na combinação de várias delas, e é isso que um modelo faz bem.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1:40–2:20 · Leticia
Antes de modelar, tratamos quatro armadilhas. Aposentados apareciam com um código que parecia mil anos de emprego; a ocupação estava em branco em 31% dos casos. As duas mais importantes estão em vermelho. Primeiro, a mesma pessoa aparecia com vários cadastros: as 36 mil contas são de menos de 10 mil pessoas. Por isso separamos treino e teste por pessoa, para testar o modelo em quem ele nunca viu. Segundo, uma variável era a própria resposta disfarçada e dava um falso acerto de 100%. Ela foi encontrada e removida.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2:20–2:55 · Leticia
Comparamos quatro modelos nas mesmas condições. O vencedor foi o XGBoost, com nota 0,80, numa escala em que 0,5 é sorteio e 1 seria perfeito. Essa nota foi medida em pessoas que o modelo nunca tinha visto, e ficou estável na validação cruzada, ou seja, o modelo não decorou os dados. A Regressão Logística ficou praticamente empatada e é uma alternativa mais simples de explicar.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2:55–3:30 · Pricilla
Este é o resultado mais importante. Se a equipe revisar só os 20% de pedidos que o modelo aponta como mais arriscados, encontra 64% de todos os maus pagadores. Um sorteio encontraria 20%. São três vezes mais casos com o mesmo esforço. E com apenas 10% dos pedidos, já encontra 40%, quatro vezes o acaso.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3:30–3:55 · Pricilla
O que mais pesa na previsão é o histórico com o banco, as barras verdes. Meses quitando o saldo e uso moderado do crédito indicam menor risco. No cadastro, tempo de emprego e renda maiores também indicam menor risco, mas pesam pouco.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3:55–4:30 · Anderson
O modelo tem limites claros. Se recusasse pedidos sozinho, negaria cerca de 17 bons pagadores para cada mau pagador evitado. Por isso a decisão final deve ser humana. Só com os dados do cadastro, a nota cai para 0,59, perto do sorteio: o modelo serve para quem já é cliente. E, como o gênero influencia a previsão, é necessária uma auditoria de equidade antes de qualquer uso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4:30–4:55 · Todos
Concluindo: o modelo funciona, com nota 0,80 em clientes que ele nunca viu. Gera valor na prática: revisando só 20% dos pedidos, a equipe encontra 64% dos maus pagadores. E mostra que o que prevê o risco é o histórico com o banco, não o cadastro. Por isso recomendamos um piloto: ordenar a fila de análise pelo risco, definir o ponto de corte com a área de risco, auditar a equidade e usar birôs de crédito para quem ainda não tem histórico. Obrigado!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_ESCURA">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05840"/>
            <a:ext cx="6766560" cy="411480"/>
          </a:xfrm>
          <a:prstGeom prst="rect">
            <a:avLst/>
          </a:prstGeom>
          <a:noFill/>
          <a:ln/>
        </p:spPr>
        <p:txBody>
          <a:bodyPr wrap="square" rtlCol="0"/>
          <a:lstStyle>
            <a:lvl1pPr indent="0" marL="0">
              <a:buNone/>
              <a:defRPr lang="en-US" sz="1400" b="1" spc="200" kern="0" dirty="0">
                <a:solidFill>
                  <a:srgbClr val="9FD3CC"/>
                </a:solidFill>
              </a:defRPr>
            </a:lvl1pPr>
          </a:lstStyle>
          <a:p>
            <a:pPr indent="0" marL="0">
              <a:buNone/>
            </a:pPr>
            <a:endParaRPr lang="en-US" sz="1400" dirty="0"/>
          </a:p>
        </p:txBody>
      </p:sp>
      <p:sp>
        <p:nvSpPr>
          <p:cNvPr id="3" name="Text 0"/>
          <p:cNvSpPr/>
          <p:nvPr>
            <p:ph idx="101" type="title" hasCustomPrompt="1"/>
          </p:nvPr>
        </p:nvSpPr>
        <p:spPr>
          <a:xfrm>
            <a:off x="640080" y="1554480"/>
            <a:ext cx="6766560" cy="17373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4" name="Text 0"/>
          <p:cNvSpPr/>
          <p:nvPr>
            <p:ph idx="102" type="body" hasCustomPrompt="1"/>
          </p:nvPr>
        </p:nvSpPr>
        <p:spPr>
          <a:xfrm>
            <a:off x="640080" y="3429000"/>
            <a:ext cx="6400800" cy="1005840"/>
          </a:xfrm>
          <a:prstGeom prst="rect">
            <a:avLst/>
          </a:prstGeom>
          <a:noFill/>
          <a:ln/>
        </p:spPr>
        <p:txBody>
          <a:bodyPr wrap="square" rtlCol="0"/>
          <a:lstStyle>
            <a:lvl1pPr indent="0" marL="0">
              <a:buNone/>
              <a:defRPr lang="en-US" sz="2000" dirty="0">
                <a:solidFill>
                  <a:srgbClr val="D9E7E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ECHAMENTO">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320040"/>
          </a:xfrm>
          <a:prstGeom prst="rect">
            <a:avLst/>
          </a:prstGeom>
          <a:noFill/>
          <a:ln/>
        </p:spPr>
        <p:txBody>
          <a:bodyPr wrap="square" rtlCol="0"/>
          <a:lstStyle>
            <a:lvl1pPr indent="0" marL="0">
              <a:buNone/>
              <a:defRPr lang="en-US" sz="1200" b="1" spc="200" kern="0" dirty="0">
                <a:solidFill>
                  <a:srgbClr val="9FD3CC"/>
                </a:solidFill>
              </a:defRPr>
            </a:lvl1pPr>
          </a:lstStyle>
          <a:p>
            <a:pPr indent="0" marL="0">
              <a:buNone/>
            </a:pPr>
            <a:endParaRPr lang="en-US" sz="1200" dirty="0"/>
          </a:p>
        </p:txBody>
      </p:sp>
      <p:sp>
        <p:nvSpPr>
          <p:cNvPr id="3" name="Text 0"/>
          <p:cNvSpPr/>
          <p:nvPr>
            <p:ph idx="101" type="title" hasCustomPrompt="1"/>
          </p:nvPr>
        </p:nvSpPr>
        <p:spPr>
          <a:xfrm>
            <a:off x="640080" y="804672"/>
            <a:ext cx="10972800" cy="73152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U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5B6272"/>
                </a:solidFill>
              </a:rPr>
              <a:t>Grupo 12 · Tech Challenge Fase 2 · Predição de maus pagadores</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05840"/>
            <a:ext cx="6766560" cy="411480"/>
          </a:xfrm>
          <a:prstGeom prst="rect">
            <a:avLst/>
          </a:prstGeom>
          <a:noFill/>
          <a:ln/>
        </p:spPr>
        <p:txBody>
          <a:bodyPr wrap="square" lIns="0" tIns="0" rIns="0" bIns="0" rtlCol="0"/>
          <a:lstStyle/>
          <a:p>
            <a:pPr indent="0" marL="0">
              <a:buNone/>
            </a:pPr>
            <a:r>
              <a:rPr lang="en-US" sz="1400" b="1" spc="200" kern="0" dirty="0">
                <a:solidFill>
                  <a:srgbClr val="9FD3CC"/>
                </a:solidFill>
              </a:rPr>
              <a:t>TECH CHALLENGE · FASE 2 · POSTECH FIAP</a:t>
            </a:r>
            <a:endParaRPr lang="en-US" sz="1400" dirty="0"/>
          </a:p>
        </p:txBody>
      </p:sp>
      <p:sp>
        <p:nvSpPr>
          <p:cNvPr id="3" name="Text 0"/>
          <p:cNvSpPr/>
          <p:nvPr>
            <p:ph idx="101" type="title" hasCustomPrompt="1"/>
          </p:nvPr>
        </p:nvSpPr>
        <p:spPr>
          <a:xfrm>
            <a:off x="640080" y="1554480"/>
            <a:ext cx="6766560" cy="173736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Quem vai pagar a fatura?</a:t>
            </a:r>
            <a:endParaRPr lang="en-US" sz="4800" dirty="0"/>
          </a:p>
        </p:txBody>
      </p:sp>
      <p:sp>
        <p:nvSpPr>
          <p:cNvPr id="4" name="Text 0"/>
          <p:cNvSpPr/>
          <p:nvPr>
            <p:ph idx="102" type="body" hasCustomPrompt="1"/>
          </p:nvPr>
        </p:nvSpPr>
        <p:spPr>
          <a:xfrm>
            <a:off x="640080" y="3429000"/>
            <a:ext cx="6400800" cy="1005840"/>
          </a:xfrm>
          <a:prstGeom prst="rect">
            <a:avLst/>
          </a:prstGeom>
          <a:noFill/>
          <a:ln/>
        </p:spPr>
        <p:txBody>
          <a:bodyPr wrap="square" lIns="0" tIns="0" rIns="0" bIns="0" rtlCol="0" anchor="t"/>
          <a:lstStyle/>
          <a:p>
            <a:pPr indent="0" marL="0">
              <a:buNone/>
            </a:pPr>
            <a:r>
              <a:rPr lang="en-US" sz="2000" dirty="0">
                <a:solidFill>
                  <a:srgbClr val="D9E7E5"/>
                </a:solidFill>
              </a:rPr>
              <a:t>Machine Learning para concentrar a análise de crédito onde está o risco</a:t>
            </a:r>
            <a:endParaRPr lang="en-US" sz="2000" dirty="0"/>
          </a:p>
        </p:txBody>
      </p:sp>
      <p:sp>
        <p:nvSpPr>
          <p:cNvPr id="5" name="integrantes"/>
          <p:cNvSpPr txBox="1"/>
          <p:nvPr/>
        </p:nvSpPr>
        <p:spPr>
          <a:xfrm>
            <a:off x="640080" y="4983480"/>
            <a:ext cx="6766560" cy="100584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Grupo 12 · Turma 12DTAT</a:t>
            </a:r>
            <a:endParaRPr lang="en-US" sz="1500" dirty="0"/>
          </a:p>
          <a:p>
            <a:pPr indent="0" marL="0">
              <a:spcAft>
                <a:spcPts val="400"/>
              </a:spcAft>
              <a:buNone/>
            </a:pPr>
            <a:r>
              <a:rPr lang="en-US" sz="1500" dirty="0">
                <a:solidFill>
                  <a:srgbClr val="D9E7E5"/>
                </a:solidFill>
              </a:rPr>
              <a:t>Anderson Leão da Silva · Jessika Midory Fukuyama</a:t>
            </a:r>
            <a:endParaRPr lang="en-US" sz="1500" dirty="0"/>
          </a:p>
          <a:p>
            <a:pPr indent="0" marL="0">
              <a:spcAft>
                <a:spcPts val="400"/>
              </a:spcAft>
              <a:buNone/>
            </a:pPr>
            <a:r>
              <a:rPr lang="en-US" sz="1500" dirty="0">
                <a:solidFill>
                  <a:srgbClr val="D9E7E5"/>
                </a:solidFill>
              </a:rPr>
              <a:t>Leticia Nery Barbosa Dias · Pricilla Teixeira da Silva</a:t>
            </a:r>
            <a:endParaRPr lang="en-US" sz="1500" dirty="0"/>
          </a:p>
        </p:txBody>
      </p:sp>
      <p:sp>
        <p:nvSpPr>
          <p:cNvPr id="6" name="ponto 0"/>
          <p:cNvSpPr/>
          <p:nvPr/>
        </p:nvSpPr>
        <p:spPr>
          <a:xfrm>
            <a:off x="8001000" y="1234440"/>
            <a:ext cx="274320" cy="274320"/>
          </a:xfrm>
          <a:prstGeom prst="ellipse">
            <a:avLst/>
          </a:prstGeom>
          <a:solidFill>
            <a:srgbClr val="2E6B66"/>
          </a:solidFill>
          <a:ln w="12700">
            <a:solidFill>
              <a:srgbClr val="2E6B66"/>
            </a:solidFill>
            <a:prstDash val="solid"/>
          </a:ln>
        </p:spPr>
      </p:sp>
      <p:sp>
        <p:nvSpPr>
          <p:cNvPr id="7" name="ponto 1"/>
          <p:cNvSpPr/>
          <p:nvPr/>
        </p:nvSpPr>
        <p:spPr>
          <a:xfrm>
            <a:off x="8476488" y="1234440"/>
            <a:ext cx="274320" cy="274320"/>
          </a:xfrm>
          <a:prstGeom prst="ellipse">
            <a:avLst/>
          </a:prstGeom>
          <a:solidFill>
            <a:srgbClr val="2E6B66"/>
          </a:solidFill>
          <a:ln w="12700">
            <a:solidFill>
              <a:srgbClr val="2E6B66"/>
            </a:solidFill>
            <a:prstDash val="solid"/>
          </a:ln>
        </p:spPr>
      </p:sp>
      <p:sp>
        <p:nvSpPr>
          <p:cNvPr id="8" name="ponto 2"/>
          <p:cNvSpPr/>
          <p:nvPr/>
        </p:nvSpPr>
        <p:spPr>
          <a:xfrm>
            <a:off x="8951976" y="1234440"/>
            <a:ext cx="274320" cy="274320"/>
          </a:xfrm>
          <a:prstGeom prst="ellipse">
            <a:avLst/>
          </a:prstGeom>
          <a:solidFill>
            <a:srgbClr val="2E6B66"/>
          </a:solidFill>
          <a:ln w="12700">
            <a:solidFill>
              <a:srgbClr val="2E6B66"/>
            </a:solidFill>
            <a:prstDash val="solid"/>
          </a:ln>
        </p:spPr>
      </p:sp>
      <p:sp>
        <p:nvSpPr>
          <p:cNvPr id="9" name="ponto 3"/>
          <p:cNvSpPr/>
          <p:nvPr/>
        </p:nvSpPr>
        <p:spPr>
          <a:xfrm>
            <a:off x="9427464" y="1234440"/>
            <a:ext cx="274320" cy="274320"/>
          </a:xfrm>
          <a:prstGeom prst="ellipse">
            <a:avLst/>
          </a:prstGeom>
          <a:solidFill>
            <a:srgbClr val="2E6B66"/>
          </a:solidFill>
          <a:ln w="12700">
            <a:solidFill>
              <a:srgbClr val="2E6B66"/>
            </a:solidFill>
            <a:prstDash val="solid"/>
          </a:ln>
        </p:spPr>
      </p:sp>
      <p:sp>
        <p:nvSpPr>
          <p:cNvPr id="10" name="ponto 4"/>
          <p:cNvSpPr/>
          <p:nvPr/>
        </p:nvSpPr>
        <p:spPr>
          <a:xfrm>
            <a:off x="9902952" y="1234440"/>
            <a:ext cx="274320" cy="274320"/>
          </a:xfrm>
          <a:prstGeom prst="ellipse">
            <a:avLst/>
          </a:prstGeom>
          <a:solidFill>
            <a:srgbClr val="2E6B66"/>
          </a:solidFill>
          <a:ln w="12700">
            <a:solidFill>
              <a:srgbClr val="2E6B66"/>
            </a:solidFill>
            <a:prstDash val="solid"/>
          </a:ln>
        </p:spPr>
      </p:sp>
      <p:sp>
        <p:nvSpPr>
          <p:cNvPr id="11" name="ponto 5"/>
          <p:cNvSpPr/>
          <p:nvPr/>
        </p:nvSpPr>
        <p:spPr>
          <a:xfrm>
            <a:off x="10378440" y="1234440"/>
            <a:ext cx="274320" cy="274320"/>
          </a:xfrm>
          <a:prstGeom prst="ellipse">
            <a:avLst/>
          </a:prstGeom>
          <a:solidFill>
            <a:srgbClr val="2E6B66"/>
          </a:solidFill>
          <a:ln w="12700">
            <a:solidFill>
              <a:srgbClr val="2E6B66"/>
            </a:solidFill>
            <a:prstDash val="solid"/>
          </a:ln>
        </p:spPr>
      </p:sp>
      <p:sp>
        <p:nvSpPr>
          <p:cNvPr id="12" name="ponto 6"/>
          <p:cNvSpPr/>
          <p:nvPr/>
        </p:nvSpPr>
        <p:spPr>
          <a:xfrm>
            <a:off x="10853928" y="1234440"/>
            <a:ext cx="274320" cy="274320"/>
          </a:xfrm>
          <a:prstGeom prst="ellipse">
            <a:avLst/>
          </a:prstGeom>
          <a:solidFill>
            <a:srgbClr val="2E6B66"/>
          </a:solidFill>
          <a:ln w="12700">
            <a:solidFill>
              <a:srgbClr val="2E6B66"/>
            </a:solidFill>
            <a:prstDash val="solid"/>
          </a:ln>
        </p:spPr>
      </p:sp>
      <p:sp>
        <p:nvSpPr>
          <p:cNvPr id="13" name="ponto 7"/>
          <p:cNvSpPr/>
          <p:nvPr/>
        </p:nvSpPr>
        <p:spPr>
          <a:xfrm>
            <a:off x="11329416" y="1234440"/>
            <a:ext cx="274320" cy="274320"/>
          </a:xfrm>
          <a:prstGeom prst="ellipse">
            <a:avLst/>
          </a:prstGeom>
          <a:solidFill>
            <a:srgbClr val="2E6B66"/>
          </a:solidFill>
          <a:ln w="12700">
            <a:solidFill>
              <a:srgbClr val="2E6B66"/>
            </a:solidFill>
            <a:prstDash val="solid"/>
          </a:ln>
        </p:spPr>
      </p:sp>
      <p:sp>
        <p:nvSpPr>
          <p:cNvPr id="14" name="ponto 8"/>
          <p:cNvSpPr/>
          <p:nvPr/>
        </p:nvSpPr>
        <p:spPr>
          <a:xfrm>
            <a:off x="8001000" y="1709928"/>
            <a:ext cx="274320" cy="274320"/>
          </a:xfrm>
          <a:prstGeom prst="ellipse">
            <a:avLst/>
          </a:prstGeom>
          <a:solidFill>
            <a:srgbClr val="2E6B66"/>
          </a:solidFill>
          <a:ln w="12700">
            <a:solidFill>
              <a:srgbClr val="2E6B66"/>
            </a:solidFill>
            <a:prstDash val="solid"/>
          </a:ln>
        </p:spPr>
      </p:sp>
      <p:sp>
        <p:nvSpPr>
          <p:cNvPr id="15" name="ponto 9"/>
          <p:cNvSpPr/>
          <p:nvPr/>
        </p:nvSpPr>
        <p:spPr>
          <a:xfrm>
            <a:off x="8476488" y="1709928"/>
            <a:ext cx="274320" cy="274320"/>
          </a:xfrm>
          <a:prstGeom prst="ellipse">
            <a:avLst/>
          </a:prstGeom>
          <a:solidFill>
            <a:srgbClr val="2E6B66"/>
          </a:solidFill>
          <a:ln w="12700">
            <a:solidFill>
              <a:srgbClr val="2E6B66"/>
            </a:solidFill>
            <a:prstDash val="solid"/>
          </a:ln>
        </p:spPr>
      </p:sp>
      <p:sp>
        <p:nvSpPr>
          <p:cNvPr id="16" name="ponto 10"/>
          <p:cNvSpPr/>
          <p:nvPr/>
        </p:nvSpPr>
        <p:spPr>
          <a:xfrm>
            <a:off x="8951976" y="1709928"/>
            <a:ext cx="274320" cy="274320"/>
          </a:xfrm>
          <a:prstGeom prst="ellipse">
            <a:avLst/>
          </a:prstGeom>
          <a:solidFill>
            <a:srgbClr val="2E6B66"/>
          </a:solidFill>
          <a:ln w="12700">
            <a:solidFill>
              <a:srgbClr val="2E6B66"/>
            </a:solidFill>
            <a:prstDash val="solid"/>
          </a:ln>
        </p:spPr>
      </p:sp>
      <p:sp>
        <p:nvSpPr>
          <p:cNvPr id="17" name="ponto 11"/>
          <p:cNvSpPr/>
          <p:nvPr/>
        </p:nvSpPr>
        <p:spPr>
          <a:xfrm>
            <a:off x="9427464" y="1709928"/>
            <a:ext cx="274320" cy="274320"/>
          </a:xfrm>
          <a:prstGeom prst="ellipse">
            <a:avLst/>
          </a:prstGeom>
          <a:solidFill>
            <a:srgbClr val="2E6B66"/>
          </a:solidFill>
          <a:ln w="12700">
            <a:solidFill>
              <a:srgbClr val="2E6B66"/>
            </a:solidFill>
            <a:prstDash val="solid"/>
          </a:ln>
        </p:spPr>
      </p:sp>
      <p:sp>
        <p:nvSpPr>
          <p:cNvPr id="18" name="ponto 12"/>
          <p:cNvSpPr/>
          <p:nvPr/>
        </p:nvSpPr>
        <p:spPr>
          <a:xfrm>
            <a:off x="9902952" y="1709928"/>
            <a:ext cx="274320" cy="274320"/>
          </a:xfrm>
          <a:prstGeom prst="ellipse">
            <a:avLst/>
          </a:prstGeom>
          <a:solidFill>
            <a:srgbClr val="2E6B66"/>
          </a:solidFill>
          <a:ln w="12700">
            <a:solidFill>
              <a:srgbClr val="2E6B66"/>
            </a:solidFill>
            <a:prstDash val="solid"/>
          </a:ln>
        </p:spPr>
      </p:sp>
      <p:sp>
        <p:nvSpPr>
          <p:cNvPr id="19" name="ponto 13"/>
          <p:cNvSpPr/>
          <p:nvPr/>
        </p:nvSpPr>
        <p:spPr>
          <a:xfrm>
            <a:off x="10378440" y="1709928"/>
            <a:ext cx="274320" cy="274320"/>
          </a:xfrm>
          <a:prstGeom prst="ellipse">
            <a:avLst/>
          </a:prstGeom>
          <a:solidFill>
            <a:srgbClr val="2E6B66"/>
          </a:solidFill>
          <a:ln w="12700">
            <a:solidFill>
              <a:srgbClr val="2E6B66"/>
            </a:solidFill>
            <a:prstDash val="solid"/>
          </a:ln>
        </p:spPr>
      </p:sp>
      <p:sp>
        <p:nvSpPr>
          <p:cNvPr id="20" name="ponto 14"/>
          <p:cNvSpPr/>
          <p:nvPr/>
        </p:nvSpPr>
        <p:spPr>
          <a:xfrm>
            <a:off x="10853928" y="1709928"/>
            <a:ext cx="274320" cy="274320"/>
          </a:xfrm>
          <a:prstGeom prst="ellipse">
            <a:avLst/>
          </a:prstGeom>
          <a:solidFill>
            <a:srgbClr val="2E6B66"/>
          </a:solidFill>
          <a:ln w="12700">
            <a:solidFill>
              <a:srgbClr val="2E6B66"/>
            </a:solidFill>
            <a:prstDash val="solid"/>
          </a:ln>
        </p:spPr>
      </p:sp>
      <p:sp>
        <p:nvSpPr>
          <p:cNvPr id="21" name="ponto 15"/>
          <p:cNvSpPr/>
          <p:nvPr/>
        </p:nvSpPr>
        <p:spPr>
          <a:xfrm>
            <a:off x="11329416" y="1709928"/>
            <a:ext cx="274320" cy="274320"/>
          </a:xfrm>
          <a:prstGeom prst="ellipse">
            <a:avLst/>
          </a:prstGeom>
          <a:solidFill>
            <a:srgbClr val="2E6B66"/>
          </a:solidFill>
          <a:ln w="12700">
            <a:solidFill>
              <a:srgbClr val="2E6B66"/>
            </a:solidFill>
            <a:prstDash val="solid"/>
          </a:ln>
        </p:spPr>
      </p:sp>
      <p:sp>
        <p:nvSpPr>
          <p:cNvPr id="22" name="ponto 16"/>
          <p:cNvSpPr/>
          <p:nvPr/>
        </p:nvSpPr>
        <p:spPr>
          <a:xfrm>
            <a:off x="8001000" y="2185416"/>
            <a:ext cx="274320" cy="274320"/>
          </a:xfrm>
          <a:prstGeom prst="ellipse">
            <a:avLst/>
          </a:prstGeom>
          <a:solidFill>
            <a:srgbClr val="2E6B66"/>
          </a:solidFill>
          <a:ln w="12700">
            <a:solidFill>
              <a:srgbClr val="2E6B66"/>
            </a:solidFill>
            <a:prstDash val="solid"/>
          </a:ln>
        </p:spPr>
      </p:sp>
      <p:sp>
        <p:nvSpPr>
          <p:cNvPr id="23" name="ponto 17"/>
          <p:cNvSpPr/>
          <p:nvPr/>
        </p:nvSpPr>
        <p:spPr>
          <a:xfrm>
            <a:off x="8476488" y="2185416"/>
            <a:ext cx="274320" cy="274320"/>
          </a:xfrm>
          <a:prstGeom prst="ellipse">
            <a:avLst/>
          </a:prstGeom>
          <a:solidFill>
            <a:srgbClr val="2E6B66"/>
          </a:solidFill>
          <a:ln w="12700">
            <a:solidFill>
              <a:srgbClr val="2E6B66"/>
            </a:solidFill>
            <a:prstDash val="solid"/>
          </a:ln>
        </p:spPr>
      </p:sp>
      <p:sp>
        <p:nvSpPr>
          <p:cNvPr id="24" name="ponto 18"/>
          <p:cNvSpPr/>
          <p:nvPr/>
        </p:nvSpPr>
        <p:spPr>
          <a:xfrm>
            <a:off x="8951976" y="2185416"/>
            <a:ext cx="274320" cy="274320"/>
          </a:xfrm>
          <a:prstGeom prst="ellipse">
            <a:avLst/>
          </a:prstGeom>
          <a:solidFill>
            <a:srgbClr val="2E6B66"/>
          </a:solidFill>
          <a:ln w="12700">
            <a:solidFill>
              <a:srgbClr val="2E6B66"/>
            </a:solidFill>
            <a:prstDash val="solid"/>
          </a:ln>
        </p:spPr>
      </p:sp>
      <p:sp>
        <p:nvSpPr>
          <p:cNvPr id="25" name="ponto 19"/>
          <p:cNvSpPr/>
          <p:nvPr/>
        </p:nvSpPr>
        <p:spPr>
          <a:xfrm>
            <a:off x="9427464" y="2185416"/>
            <a:ext cx="274320" cy="274320"/>
          </a:xfrm>
          <a:prstGeom prst="ellipse">
            <a:avLst/>
          </a:prstGeom>
          <a:solidFill>
            <a:srgbClr val="2E6B66"/>
          </a:solidFill>
          <a:ln w="12700">
            <a:solidFill>
              <a:srgbClr val="2E6B66"/>
            </a:solidFill>
            <a:prstDash val="solid"/>
          </a:ln>
        </p:spPr>
      </p:sp>
      <p:sp>
        <p:nvSpPr>
          <p:cNvPr id="26" name="ponto 20"/>
          <p:cNvSpPr/>
          <p:nvPr/>
        </p:nvSpPr>
        <p:spPr>
          <a:xfrm>
            <a:off x="9902952" y="2185416"/>
            <a:ext cx="274320" cy="274320"/>
          </a:xfrm>
          <a:prstGeom prst="ellipse">
            <a:avLst/>
          </a:prstGeom>
          <a:solidFill>
            <a:srgbClr val="2E6B66"/>
          </a:solidFill>
          <a:ln w="12700">
            <a:solidFill>
              <a:srgbClr val="2E6B66"/>
            </a:solidFill>
            <a:prstDash val="solid"/>
          </a:ln>
        </p:spPr>
      </p:sp>
      <p:sp>
        <p:nvSpPr>
          <p:cNvPr id="27" name="ponto 21"/>
          <p:cNvSpPr/>
          <p:nvPr/>
        </p:nvSpPr>
        <p:spPr>
          <a:xfrm>
            <a:off x="10378440" y="2185416"/>
            <a:ext cx="274320" cy="274320"/>
          </a:xfrm>
          <a:prstGeom prst="ellipse">
            <a:avLst/>
          </a:prstGeom>
          <a:solidFill>
            <a:srgbClr val="2E6B66"/>
          </a:solidFill>
          <a:ln w="12700">
            <a:solidFill>
              <a:srgbClr val="2E6B66"/>
            </a:solidFill>
            <a:prstDash val="solid"/>
          </a:ln>
        </p:spPr>
      </p:sp>
      <p:sp>
        <p:nvSpPr>
          <p:cNvPr id="28" name="ponto 22"/>
          <p:cNvSpPr/>
          <p:nvPr/>
        </p:nvSpPr>
        <p:spPr>
          <a:xfrm>
            <a:off x="10853928" y="2185416"/>
            <a:ext cx="274320" cy="274320"/>
          </a:xfrm>
          <a:prstGeom prst="ellipse">
            <a:avLst/>
          </a:prstGeom>
          <a:solidFill>
            <a:srgbClr val="2E6B66"/>
          </a:solidFill>
          <a:ln w="12700">
            <a:solidFill>
              <a:srgbClr val="2E6B66"/>
            </a:solidFill>
            <a:prstDash val="solid"/>
          </a:ln>
        </p:spPr>
      </p:sp>
      <p:sp>
        <p:nvSpPr>
          <p:cNvPr id="29" name="ponto 23"/>
          <p:cNvSpPr/>
          <p:nvPr/>
        </p:nvSpPr>
        <p:spPr>
          <a:xfrm>
            <a:off x="11329416" y="2185416"/>
            <a:ext cx="274320" cy="274320"/>
          </a:xfrm>
          <a:prstGeom prst="ellipse">
            <a:avLst/>
          </a:prstGeom>
          <a:solidFill>
            <a:srgbClr val="2E6B66"/>
          </a:solidFill>
          <a:ln w="12700">
            <a:solidFill>
              <a:srgbClr val="2E6B66"/>
            </a:solidFill>
            <a:prstDash val="solid"/>
          </a:ln>
        </p:spPr>
      </p:sp>
      <p:sp>
        <p:nvSpPr>
          <p:cNvPr id="30" name="ponto 24"/>
          <p:cNvSpPr/>
          <p:nvPr/>
        </p:nvSpPr>
        <p:spPr>
          <a:xfrm>
            <a:off x="8001000" y="2660904"/>
            <a:ext cx="274320" cy="274320"/>
          </a:xfrm>
          <a:prstGeom prst="ellipse">
            <a:avLst/>
          </a:prstGeom>
          <a:solidFill>
            <a:srgbClr val="2E6B66"/>
          </a:solidFill>
          <a:ln w="12700">
            <a:solidFill>
              <a:srgbClr val="2E6B66"/>
            </a:solidFill>
            <a:prstDash val="solid"/>
          </a:ln>
        </p:spPr>
      </p:sp>
      <p:sp>
        <p:nvSpPr>
          <p:cNvPr id="31" name="ponto 25"/>
          <p:cNvSpPr/>
          <p:nvPr/>
        </p:nvSpPr>
        <p:spPr>
          <a:xfrm>
            <a:off x="8476488" y="2660904"/>
            <a:ext cx="274320" cy="274320"/>
          </a:xfrm>
          <a:prstGeom prst="ellipse">
            <a:avLst/>
          </a:prstGeom>
          <a:solidFill>
            <a:srgbClr val="2E6B66"/>
          </a:solidFill>
          <a:ln w="12700">
            <a:solidFill>
              <a:srgbClr val="2E6B66"/>
            </a:solidFill>
            <a:prstDash val="solid"/>
          </a:ln>
        </p:spPr>
      </p:sp>
      <p:sp>
        <p:nvSpPr>
          <p:cNvPr id="32" name="ponto 26"/>
          <p:cNvSpPr/>
          <p:nvPr/>
        </p:nvSpPr>
        <p:spPr>
          <a:xfrm>
            <a:off x="8951976" y="2660904"/>
            <a:ext cx="274320" cy="274320"/>
          </a:xfrm>
          <a:prstGeom prst="ellipse">
            <a:avLst/>
          </a:prstGeom>
          <a:solidFill>
            <a:srgbClr val="2E6B66"/>
          </a:solidFill>
          <a:ln w="12700">
            <a:solidFill>
              <a:srgbClr val="2E6B66"/>
            </a:solidFill>
            <a:prstDash val="solid"/>
          </a:ln>
        </p:spPr>
      </p:sp>
      <p:sp>
        <p:nvSpPr>
          <p:cNvPr id="33" name="ponto 27"/>
          <p:cNvSpPr/>
          <p:nvPr/>
        </p:nvSpPr>
        <p:spPr>
          <a:xfrm>
            <a:off x="9427464" y="2660904"/>
            <a:ext cx="274320" cy="274320"/>
          </a:xfrm>
          <a:prstGeom prst="ellipse">
            <a:avLst/>
          </a:prstGeom>
          <a:solidFill>
            <a:srgbClr val="2E6B66"/>
          </a:solidFill>
          <a:ln w="12700">
            <a:solidFill>
              <a:srgbClr val="2E6B66"/>
            </a:solidFill>
            <a:prstDash val="solid"/>
          </a:ln>
        </p:spPr>
      </p:sp>
      <p:sp>
        <p:nvSpPr>
          <p:cNvPr id="34" name="ponto 28"/>
          <p:cNvSpPr/>
          <p:nvPr/>
        </p:nvSpPr>
        <p:spPr>
          <a:xfrm>
            <a:off x="9902952" y="2660904"/>
            <a:ext cx="274320" cy="274320"/>
          </a:xfrm>
          <a:prstGeom prst="ellipse">
            <a:avLst/>
          </a:prstGeom>
          <a:solidFill>
            <a:srgbClr val="2E6B66"/>
          </a:solidFill>
          <a:ln w="12700">
            <a:solidFill>
              <a:srgbClr val="2E6B66"/>
            </a:solidFill>
            <a:prstDash val="solid"/>
          </a:ln>
        </p:spPr>
      </p:sp>
      <p:sp>
        <p:nvSpPr>
          <p:cNvPr id="35" name="ponto 29"/>
          <p:cNvSpPr/>
          <p:nvPr/>
        </p:nvSpPr>
        <p:spPr>
          <a:xfrm>
            <a:off x="10378440" y="2660904"/>
            <a:ext cx="274320" cy="274320"/>
          </a:xfrm>
          <a:prstGeom prst="ellipse">
            <a:avLst/>
          </a:prstGeom>
          <a:solidFill>
            <a:srgbClr val="2E6B66"/>
          </a:solidFill>
          <a:ln w="12700">
            <a:solidFill>
              <a:srgbClr val="2E6B66"/>
            </a:solidFill>
            <a:prstDash val="solid"/>
          </a:ln>
        </p:spPr>
      </p:sp>
      <p:sp>
        <p:nvSpPr>
          <p:cNvPr id="36" name="ponto 30"/>
          <p:cNvSpPr/>
          <p:nvPr/>
        </p:nvSpPr>
        <p:spPr>
          <a:xfrm>
            <a:off x="10853928" y="2660904"/>
            <a:ext cx="274320" cy="274320"/>
          </a:xfrm>
          <a:prstGeom prst="ellipse">
            <a:avLst/>
          </a:prstGeom>
          <a:solidFill>
            <a:srgbClr val="2E6B66"/>
          </a:solidFill>
          <a:ln w="12700">
            <a:solidFill>
              <a:srgbClr val="2E6B66"/>
            </a:solidFill>
            <a:prstDash val="solid"/>
          </a:ln>
        </p:spPr>
      </p:sp>
      <p:sp>
        <p:nvSpPr>
          <p:cNvPr id="37" name="ponto 31"/>
          <p:cNvSpPr/>
          <p:nvPr/>
        </p:nvSpPr>
        <p:spPr>
          <a:xfrm>
            <a:off x="11329416" y="2660904"/>
            <a:ext cx="274320" cy="274320"/>
          </a:xfrm>
          <a:prstGeom prst="ellipse">
            <a:avLst/>
          </a:prstGeom>
          <a:solidFill>
            <a:srgbClr val="2E6B66"/>
          </a:solidFill>
          <a:ln w="12700">
            <a:solidFill>
              <a:srgbClr val="2E6B66"/>
            </a:solidFill>
            <a:prstDash val="solid"/>
          </a:ln>
        </p:spPr>
      </p:sp>
      <p:sp>
        <p:nvSpPr>
          <p:cNvPr id="38" name="ponto 32"/>
          <p:cNvSpPr/>
          <p:nvPr/>
        </p:nvSpPr>
        <p:spPr>
          <a:xfrm>
            <a:off x="8001000" y="3136392"/>
            <a:ext cx="274320" cy="274320"/>
          </a:xfrm>
          <a:prstGeom prst="ellipse">
            <a:avLst/>
          </a:prstGeom>
          <a:solidFill>
            <a:srgbClr val="2E6B66"/>
          </a:solidFill>
          <a:ln w="12700">
            <a:solidFill>
              <a:srgbClr val="2E6B66"/>
            </a:solidFill>
            <a:prstDash val="solid"/>
          </a:ln>
        </p:spPr>
      </p:sp>
      <p:sp>
        <p:nvSpPr>
          <p:cNvPr id="39" name="ponto 33"/>
          <p:cNvSpPr/>
          <p:nvPr/>
        </p:nvSpPr>
        <p:spPr>
          <a:xfrm>
            <a:off x="8476488" y="3136392"/>
            <a:ext cx="274320" cy="274320"/>
          </a:xfrm>
          <a:prstGeom prst="ellipse">
            <a:avLst/>
          </a:prstGeom>
          <a:solidFill>
            <a:srgbClr val="2E6B66"/>
          </a:solidFill>
          <a:ln w="12700">
            <a:solidFill>
              <a:srgbClr val="2E6B66"/>
            </a:solidFill>
            <a:prstDash val="solid"/>
          </a:ln>
        </p:spPr>
      </p:sp>
      <p:sp>
        <p:nvSpPr>
          <p:cNvPr id="40" name="ponto 34"/>
          <p:cNvSpPr/>
          <p:nvPr/>
        </p:nvSpPr>
        <p:spPr>
          <a:xfrm>
            <a:off x="8951976" y="3136392"/>
            <a:ext cx="274320" cy="274320"/>
          </a:xfrm>
          <a:prstGeom prst="ellipse">
            <a:avLst/>
          </a:prstGeom>
          <a:solidFill>
            <a:srgbClr val="2E6B66"/>
          </a:solidFill>
          <a:ln w="12700">
            <a:solidFill>
              <a:srgbClr val="2E6B66"/>
            </a:solidFill>
            <a:prstDash val="solid"/>
          </a:ln>
        </p:spPr>
      </p:sp>
      <p:sp>
        <p:nvSpPr>
          <p:cNvPr id="41" name="ponto 35"/>
          <p:cNvSpPr/>
          <p:nvPr/>
        </p:nvSpPr>
        <p:spPr>
          <a:xfrm>
            <a:off x="9427464" y="3136392"/>
            <a:ext cx="274320" cy="274320"/>
          </a:xfrm>
          <a:prstGeom prst="ellipse">
            <a:avLst/>
          </a:prstGeom>
          <a:solidFill>
            <a:srgbClr val="2E6B66"/>
          </a:solidFill>
          <a:ln w="12700">
            <a:solidFill>
              <a:srgbClr val="2E6B66"/>
            </a:solidFill>
            <a:prstDash val="solid"/>
          </a:ln>
        </p:spPr>
      </p:sp>
      <p:sp>
        <p:nvSpPr>
          <p:cNvPr id="42" name="ponto 36"/>
          <p:cNvSpPr/>
          <p:nvPr/>
        </p:nvSpPr>
        <p:spPr>
          <a:xfrm>
            <a:off x="9902952" y="3136392"/>
            <a:ext cx="274320" cy="274320"/>
          </a:xfrm>
          <a:prstGeom prst="ellipse">
            <a:avLst/>
          </a:prstGeom>
          <a:solidFill>
            <a:srgbClr val="2E6B66"/>
          </a:solidFill>
          <a:ln w="12700">
            <a:solidFill>
              <a:srgbClr val="2E6B66"/>
            </a:solidFill>
            <a:prstDash val="solid"/>
          </a:ln>
        </p:spPr>
      </p:sp>
      <p:sp>
        <p:nvSpPr>
          <p:cNvPr id="43" name="ponto 37"/>
          <p:cNvSpPr/>
          <p:nvPr/>
        </p:nvSpPr>
        <p:spPr>
          <a:xfrm>
            <a:off x="10378440" y="3136392"/>
            <a:ext cx="274320" cy="274320"/>
          </a:xfrm>
          <a:prstGeom prst="ellipse">
            <a:avLst/>
          </a:prstGeom>
          <a:solidFill>
            <a:srgbClr val="2E6B66"/>
          </a:solidFill>
          <a:ln w="12700">
            <a:solidFill>
              <a:srgbClr val="2E6B66"/>
            </a:solidFill>
            <a:prstDash val="solid"/>
          </a:ln>
        </p:spPr>
      </p:sp>
      <p:sp>
        <p:nvSpPr>
          <p:cNvPr id="44" name="ponto 38"/>
          <p:cNvSpPr/>
          <p:nvPr/>
        </p:nvSpPr>
        <p:spPr>
          <a:xfrm>
            <a:off x="10853928" y="3136392"/>
            <a:ext cx="274320" cy="274320"/>
          </a:xfrm>
          <a:prstGeom prst="ellipse">
            <a:avLst/>
          </a:prstGeom>
          <a:solidFill>
            <a:srgbClr val="2E6B66"/>
          </a:solidFill>
          <a:ln w="12700">
            <a:solidFill>
              <a:srgbClr val="2E6B66"/>
            </a:solidFill>
            <a:prstDash val="solid"/>
          </a:ln>
        </p:spPr>
      </p:sp>
      <p:sp>
        <p:nvSpPr>
          <p:cNvPr id="45" name="ponto 39"/>
          <p:cNvSpPr/>
          <p:nvPr/>
        </p:nvSpPr>
        <p:spPr>
          <a:xfrm>
            <a:off x="11329416" y="3136392"/>
            <a:ext cx="274320" cy="274320"/>
          </a:xfrm>
          <a:prstGeom prst="ellipse">
            <a:avLst/>
          </a:prstGeom>
          <a:solidFill>
            <a:srgbClr val="2E6B66"/>
          </a:solidFill>
          <a:ln w="12700">
            <a:solidFill>
              <a:srgbClr val="2E6B66"/>
            </a:solidFill>
            <a:prstDash val="solid"/>
          </a:ln>
        </p:spPr>
      </p:sp>
      <p:sp>
        <p:nvSpPr>
          <p:cNvPr id="46" name="ponto 40"/>
          <p:cNvSpPr/>
          <p:nvPr/>
        </p:nvSpPr>
        <p:spPr>
          <a:xfrm>
            <a:off x="8001000" y="3611880"/>
            <a:ext cx="274320" cy="274320"/>
          </a:xfrm>
          <a:prstGeom prst="ellipse">
            <a:avLst/>
          </a:prstGeom>
          <a:solidFill>
            <a:srgbClr val="2E6B66"/>
          </a:solidFill>
          <a:ln w="12700">
            <a:solidFill>
              <a:srgbClr val="2E6B66"/>
            </a:solidFill>
            <a:prstDash val="solid"/>
          </a:ln>
        </p:spPr>
      </p:sp>
      <p:sp>
        <p:nvSpPr>
          <p:cNvPr id="47" name="ponto 41"/>
          <p:cNvSpPr/>
          <p:nvPr/>
        </p:nvSpPr>
        <p:spPr>
          <a:xfrm>
            <a:off x="8476488" y="3611880"/>
            <a:ext cx="274320" cy="274320"/>
          </a:xfrm>
          <a:prstGeom prst="ellipse">
            <a:avLst/>
          </a:prstGeom>
          <a:solidFill>
            <a:srgbClr val="2E6B66"/>
          </a:solidFill>
          <a:ln w="12700">
            <a:solidFill>
              <a:srgbClr val="2E6B66"/>
            </a:solidFill>
            <a:prstDash val="solid"/>
          </a:ln>
        </p:spPr>
      </p:sp>
      <p:sp>
        <p:nvSpPr>
          <p:cNvPr id="48" name="ponto 42"/>
          <p:cNvSpPr/>
          <p:nvPr/>
        </p:nvSpPr>
        <p:spPr>
          <a:xfrm>
            <a:off x="8951976" y="3611880"/>
            <a:ext cx="274320" cy="274320"/>
          </a:xfrm>
          <a:prstGeom prst="ellipse">
            <a:avLst/>
          </a:prstGeom>
          <a:solidFill>
            <a:srgbClr val="2E6B66"/>
          </a:solidFill>
          <a:ln w="12700">
            <a:solidFill>
              <a:srgbClr val="2E6B66"/>
            </a:solidFill>
            <a:prstDash val="solid"/>
          </a:ln>
        </p:spPr>
      </p:sp>
      <p:sp>
        <p:nvSpPr>
          <p:cNvPr id="49" name="ponto 43"/>
          <p:cNvSpPr/>
          <p:nvPr/>
        </p:nvSpPr>
        <p:spPr>
          <a:xfrm>
            <a:off x="9427464" y="3611880"/>
            <a:ext cx="274320" cy="274320"/>
          </a:xfrm>
          <a:prstGeom prst="ellipse">
            <a:avLst/>
          </a:prstGeom>
          <a:solidFill>
            <a:srgbClr val="2E6B66"/>
          </a:solidFill>
          <a:ln w="12700">
            <a:solidFill>
              <a:srgbClr val="2E6B66"/>
            </a:solidFill>
            <a:prstDash val="solid"/>
          </a:ln>
        </p:spPr>
      </p:sp>
      <p:sp>
        <p:nvSpPr>
          <p:cNvPr id="50" name="ponto 44"/>
          <p:cNvSpPr/>
          <p:nvPr/>
        </p:nvSpPr>
        <p:spPr>
          <a:xfrm>
            <a:off x="9902952" y="3611880"/>
            <a:ext cx="274320" cy="274320"/>
          </a:xfrm>
          <a:prstGeom prst="ellipse">
            <a:avLst/>
          </a:prstGeom>
          <a:solidFill>
            <a:srgbClr val="2E6B66"/>
          </a:solidFill>
          <a:ln w="12700">
            <a:solidFill>
              <a:srgbClr val="2E6B66"/>
            </a:solidFill>
            <a:prstDash val="solid"/>
          </a:ln>
        </p:spPr>
      </p:sp>
      <p:sp>
        <p:nvSpPr>
          <p:cNvPr id="51" name="ponto destaque"/>
          <p:cNvSpPr/>
          <p:nvPr/>
        </p:nvSpPr>
        <p:spPr>
          <a:xfrm>
            <a:off x="10378440" y="3611880"/>
            <a:ext cx="342900" cy="342900"/>
          </a:xfrm>
          <a:prstGeom prst="ellipse">
            <a:avLst/>
          </a:prstGeom>
          <a:solidFill>
            <a:srgbClr val="E9B44C"/>
          </a:solidFill>
          <a:ln w="12700">
            <a:solidFill>
              <a:srgbClr val="E9B44C"/>
            </a:solidFill>
            <a:prstDash val="solid"/>
          </a:ln>
        </p:spPr>
      </p:sp>
      <p:sp>
        <p:nvSpPr>
          <p:cNvPr id="52" name="ponto 46"/>
          <p:cNvSpPr/>
          <p:nvPr/>
        </p:nvSpPr>
        <p:spPr>
          <a:xfrm>
            <a:off x="10853928" y="3611880"/>
            <a:ext cx="274320" cy="274320"/>
          </a:xfrm>
          <a:prstGeom prst="ellipse">
            <a:avLst/>
          </a:prstGeom>
          <a:solidFill>
            <a:srgbClr val="2E6B66"/>
          </a:solidFill>
          <a:ln w="12700">
            <a:solidFill>
              <a:srgbClr val="2E6B66"/>
            </a:solidFill>
            <a:prstDash val="solid"/>
          </a:ln>
        </p:spPr>
      </p:sp>
      <p:sp>
        <p:nvSpPr>
          <p:cNvPr id="53" name="ponto 47"/>
          <p:cNvSpPr/>
          <p:nvPr/>
        </p:nvSpPr>
        <p:spPr>
          <a:xfrm>
            <a:off x="11329416" y="3611880"/>
            <a:ext cx="274320" cy="274320"/>
          </a:xfrm>
          <a:prstGeom prst="ellipse">
            <a:avLst/>
          </a:prstGeom>
          <a:solidFill>
            <a:srgbClr val="2E6B66"/>
          </a:solidFill>
          <a:ln w="12700">
            <a:solidFill>
              <a:srgbClr val="2E6B66"/>
            </a:solidFill>
            <a:prstDash val="solid"/>
          </a:ln>
        </p:spPr>
      </p:sp>
      <p:sp>
        <p:nvSpPr>
          <p:cNvPr id="54" name="ponto 48"/>
          <p:cNvSpPr/>
          <p:nvPr/>
        </p:nvSpPr>
        <p:spPr>
          <a:xfrm>
            <a:off x="8001000" y="4087368"/>
            <a:ext cx="274320" cy="274320"/>
          </a:xfrm>
          <a:prstGeom prst="ellipse">
            <a:avLst/>
          </a:prstGeom>
          <a:solidFill>
            <a:srgbClr val="2E6B66"/>
          </a:solidFill>
          <a:ln w="12700">
            <a:solidFill>
              <a:srgbClr val="2E6B66"/>
            </a:solidFill>
            <a:prstDash val="solid"/>
          </a:ln>
        </p:spPr>
      </p:sp>
      <p:sp>
        <p:nvSpPr>
          <p:cNvPr id="55" name="ponto 49"/>
          <p:cNvSpPr/>
          <p:nvPr/>
        </p:nvSpPr>
        <p:spPr>
          <a:xfrm>
            <a:off x="8476488" y="4087368"/>
            <a:ext cx="274320" cy="274320"/>
          </a:xfrm>
          <a:prstGeom prst="ellipse">
            <a:avLst/>
          </a:prstGeom>
          <a:solidFill>
            <a:srgbClr val="2E6B66"/>
          </a:solidFill>
          <a:ln w="12700">
            <a:solidFill>
              <a:srgbClr val="2E6B66"/>
            </a:solidFill>
            <a:prstDash val="solid"/>
          </a:ln>
        </p:spPr>
      </p:sp>
      <p:sp>
        <p:nvSpPr>
          <p:cNvPr id="56" name="ponto 50"/>
          <p:cNvSpPr/>
          <p:nvPr/>
        </p:nvSpPr>
        <p:spPr>
          <a:xfrm>
            <a:off x="8951976" y="4087368"/>
            <a:ext cx="274320" cy="274320"/>
          </a:xfrm>
          <a:prstGeom prst="ellipse">
            <a:avLst/>
          </a:prstGeom>
          <a:solidFill>
            <a:srgbClr val="2E6B66"/>
          </a:solidFill>
          <a:ln w="12700">
            <a:solidFill>
              <a:srgbClr val="2E6B66"/>
            </a:solidFill>
            <a:prstDash val="solid"/>
          </a:ln>
        </p:spPr>
      </p:sp>
      <p:sp>
        <p:nvSpPr>
          <p:cNvPr id="57" name="ponto 51"/>
          <p:cNvSpPr/>
          <p:nvPr/>
        </p:nvSpPr>
        <p:spPr>
          <a:xfrm>
            <a:off x="9427464" y="4087368"/>
            <a:ext cx="274320" cy="274320"/>
          </a:xfrm>
          <a:prstGeom prst="ellipse">
            <a:avLst/>
          </a:prstGeom>
          <a:solidFill>
            <a:srgbClr val="2E6B66"/>
          </a:solidFill>
          <a:ln w="12700">
            <a:solidFill>
              <a:srgbClr val="2E6B66"/>
            </a:solidFill>
            <a:prstDash val="solid"/>
          </a:ln>
        </p:spPr>
      </p:sp>
      <p:sp>
        <p:nvSpPr>
          <p:cNvPr id="58" name="ponto 52"/>
          <p:cNvSpPr/>
          <p:nvPr/>
        </p:nvSpPr>
        <p:spPr>
          <a:xfrm>
            <a:off x="9902952" y="4087368"/>
            <a:ext cx="274320" cy="274320"/>
          </a:xfrm>
          <a:prstGeom prst="ellipse">
            <a:avLst/>
          </a:prstGeom>
          <a:solidFill>
            <a:srgbClr val="2E6B66"/>
          </a:solidFill>
          <a:ln w="12700">
            <a:solidFill>
              <a:srgbClr val="2E6B66"/>
            </a:solidFill>
            <a:prstDash val="solid"/>
          </a:ln>
        </p:spPr>
      </p:sp>
      <p:sp>
        <p:nvSpPr>
          <p:cNvPr id="59" name="ponto 53"/>
          <p:cNvSpPr/>
          <p:nvPr/>
        </p:nvSpPr>
        <p:spPr>
          <a:xfrm>
            <a:off x="10378440" y="4087368"/>
            <a:ext cx="274320" cy="274320"/>
          </a:xfrm>
          <a:prstGeom prst="ellipse">
            <a:avLst/>
          </a:prstGeom>
          <a:solidFill>
            <a:srgbClr val="2E6B66"/>
          </a:solidFill>
          <a:ln w="12700">
            <a:solidFill>
              <a:srgbClr val="2E6B66"/>
            </a:solidFill>
            <a:prstDash val="solid"/>
          </a:ln>
        </p:spPr>
      </p:sp>
      <p:sp>
        <p:nvSpPr>
          <p:cNvPr id="60" name="ponto 54"/>
          <p:cNvSpPr/>
          <p:nvPr/>
        </p:nvSpPr>
        <p:spPr>
          <a:xfrm>
            <a:off x="10853928" y="4087368"/>
            <a:ext cx="274320" cy="274320"/>
          </a:xfrm>
          <a:prstGeom prst="ellipse">
            <a:avLst/>
          </a:prstGeom>
          <a:solidFill>
            <a:srgbClr val="2E6B66"/>
          </a:solidFill>
          <a:ln w="12700">
            <a:solidFill>
              <a:srgbClr val="2E6B66"/>
            </a:solidFill>
            <a:prstDash val="solid"/>
          </a:ln>
        </p:spPr>
      </p:sp>
      <p:sp>
        <p:nvSpPr>
          <p:cNvPr id="61" name="ponto 55"/>
          <p:cNvSpPr/>
          <p:nvPr/>
        </p:nvSpPr>
        <p:spPr>
          <a:xfrm>
            <a:off x="11329416" y="4087368"/>
            <a:ext cx="274320" cy="274320"/>
          </a:xfrm>
          <a:prstGeom prst="ellipse">
            <a:avLst/>
          </a:prstGeom>
          <a:solidFill>
            <a:srgbClr val="2E6B66"/>
          </a:solidFill>
          <a:ln w="12700">
            <a:solidFill>
              <a:srgbClr val="2E6B66"/>
            </a:solidFill>
            <a:prstDash val="solid"/>
          </a:ln>
        </p:spPr>
      </p:sp>
      <p:sp>
        <p:nvSpPr>
          <p:cNvPr id="62" name="ponto 56"/>
          <p:cNvSpPr/>
          <p:nvPr/>
        </p:nvSpPr>
        <p:spPr>
          <a:xfrm>
            <a:off x="8001000" y="4562856"/>
            <a:ext cx="274320" cy="274320"/>
          </a:xfrm>
          <a:prstGeom prst="ellipse">
            <a:avLst/>
          </a:prstGeom>
          <a:solidFill>
            <a:srgbClr val="2E6B66"/>
          </a:solidFill>
          <a:ln w="12700">
            <a:solidFill>
              <a:srgbClr val="2E6B66"/>
            </a:solidFill>
            <a:prstDash val="solid"/>
          </a:ln>
        </p:spPr>
      </p:sp>
      <p:sp>
        <p:nvSpPr>
          <p:cNvPr id="63" name="ponto 57"/>
          <p:cNvSpPr/>
          <p:nvPr/>
        </p:nvSpPr>
        <p:spPr>
          <a:xfrm>
            <a:off x="8476488" y="4562856"/>
            <a:ext cx="274320" cy="274320"/>
          </a:xfrm>
          <a:prstGeom prst="ellipse">
            <a:avLst/>
          </a:prstGeom>
          <a:solidFill>
            <a:srgbClr val="2E6B66"/>
          </a:solidFill>
          <a:ln w="12700">
            <a:solidFill>
              <a:srgbClr val="2E6B66"/>
            </a:solidFill>
            <a:prstDash val="solid"/>
          </a:ln>
        </p:spPr>
      </p:sp>
      <p:sp>
        <p:nvSpPr>
          <p:cNvPr id="64" name="ponto 58"/>
          <p:cNvSpPr/>
          <p:nvPr/>
        </p:nvSpPr>
        <p:spPr>
          <a:xfrm>
            <a:off x="8951976" y="4562856"/>
            <a:ext cx="274320" cy="274320"/>
          </a:xfrm>
          <a:prstGeom prst="ellipse">
            <a:avLst/>
          </a:prstGeom>
          <a:solidFill>
            <a:srgbClr val="2E6B66"/>
          </a:solidFill>
          <a:ln w="12700">
            <a:solidFill>
              <a:srgbClr val="2E6B66"/>
            </a:solidFill>
            <a:prstDash val="solid"/>
          </a:ln>
        </p:spPr>
      </p:sp>
      <p:sp>
        <p:nvSpPr>
          <p:cNvPr id="65" name="ponto 59"/>
          <p:cNvSpPr/>
          <p:nvPr/>
        </p:nvSpPr>
        <p:spPr>
          <a:xfrm>
            <a:off x="9427464" y="4562856"/>
            <a:ext cx="274320" cy="274320"/>
          </a:xfrm>
          <a:prstGeom prst="ellipse">
            <a:avLst/>
          </a:prstGeom>
          <a:solidFill>
            <a:srgbClr val="2E6B66"/>
          </a:solidFill>
          <a:ln w="12700">
            <a:solidFill>
              <a:srgbClr val="2E6B66"/>
            </a:solidFill>
            <a:prstDash val="solid"/>
          </a:ln>
        </p:spPr>
      </p:sp>
      <p:sp>
        <p:nvSpPr>
          <p:cNvPr id="66" name="ponto 60"/>
          <p:cNvSpPr/>
          <p:nvPr/>
        </p:nvSpPr>
        <p:spPr>
          <a:xfrm>
            <a:off x="9902952" y="4562856"/>
            <a:ext cx="274320" cy="274320"/>
          </a:xfrm>
          <a:prstGeom prst="ellipse">
            <a:avLst/>
          </a:prstGeom>
          <a:solidFill>
            <a:srgbClr val="2E6B66"/>
          </a:solidFill>
          <a:ln w="12700">
            <a:solidFill>
              <a:srgbClr val="2E6B66"/>
            </a:solidFill>
            <a:prstDash val="solid"/>
          </a:ln>
        </p:spPr>
      </p:sp>
      <p:sp>
        <p:nvSpPr>
          <p:cNvPr id="67" name="ponto 61"/>
          <p:cNvSpPr/>
          <p:nvPr/>
        </p:nvSpPr>
        <p:spPr>
          <a:xfrm>
            <a:off x="10378440" y="4562856"/>
            <a:ext cx="274320" cy="274320"/>
          </a:xfrm>
          <a:prstGeom prst="ellipse">
            <a:avLst/>
          </a:prstGeom>
          <a:solidFill>
            <a:srgbClr val="2E6B66"/>
          </a:solidFill>
          <a:ln w="12700">
            <a:solidFill>
              <a:srgbClr val="2E6B66"/>
            </a:solidFill>
            <a:prstDash val="solid"/>
          </a:ln>
        </p:spPr>
      </p:sp>
      <p:sp>
        <p:nvSpPr>
          <p:cNvPr id="68" name="ponto 62"/>
          <p:cNvSpPr/>
          <p:nvPr/>
        </p:nvSpPr>
        <p:spPr>
          <a:xfrm>
            <a:off x="10853928" y="4562856"/>
            <a:ext cx="274320" cy="274320"/>
          </a:xfrm>
          <a:prstGeom prst="ellipse">
            <a:avLst/>
          </a:prstGeom>
          <a:solidFill>
            <a:srgbClr val="2E6B66"/>
          </a:solidFill>
          <a:ln w="12700">
            <a:solidFill>
              <a:srgbClr val="2E6B66"/>
            </a:solidFill>
            <a:prstDash val="solid"/>
          </a:ln>
        </p:spPr>
      </p:sp>
      <p:sp>
        <p:nvSpPr>
          <p:cNvPr id="69" name="ponto 63"/>
          <p:cNvSpPr/>
          <p:nvPr/>
        </p:nvSpPr>
        <p:spPr>
          <a:xfrm>
            <a:off x="11329416" y="4562856"/>
            <a:ext cx="274320" cy="274320"/>
          </a:xfrm>
          <a:prstGeom prst="ellipse">
            <a:avLst/>
          </a:prstGeom>
          <a:solidFill>
            <a:srgbClr val="2E6B66"/>
          </a:solidFill>
          <a:ln w="12700">
            <a:solidFill>
              <a:srgbClr val="2E6B66"/>
            </a:solidFill>
            <a:prstDash val="solid"/>
          </a:ln>
        </p:spPr>
      </p:sp>
      <p:sp>
        <p:nvSpPr>
          <p:cNvPr id="70" name="legenda pontos"/>
          <p:cNvSpPr txBox="1"/>
          <p:nvPr/>
        </p:nvSpPr>
        <p:spPr>
          <a:xfrm>
            <a:off x="7909560" y="5120640"/>
            <a:ext cx="3931920" cy="640080"/>
          </a:xfrm>
          <a:prstGeom prst="rect">
            <a:avLst/>
          </a:prstGeom>
          <a:noFill/>
          <a:ln/>
        </p:spPr>
        <p:txBody>
          <a:bodyPr wrap="square" lIns="0" tIns="0" rIns="0" bIns="0" rtlCol="0" anchor="ctr"/>
          <a:lstStyle/>
          <a:p>
            <a:pPr indent="0" marL="0">
              <a:buNone/>
            </a:pPr>
            <a:r>
              <a:rPr lang="en-US" sz="1300" i="1" dirty="0">
                <a:solidFill>
                  <a:srgbClr val="9FD3CC"/>
                </a:solidFill>
              </a:rPr>
              <a:t>1 em cada 60 clientes deixou de pagar duas faturas seguidas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01 · O PROBLEMA DE NEGÓCIO</a:t>
            </a: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Achar o mau pagador é procurar agulha no palheiro</a:t>
            </a:r>
            <a:endParaRPr lang="en-US" sz="3200" dirty="0"/>
          </a:p>
        </p:txBody>
      </p:sp>
      <p:sp>
        <p:nvSpPr>
          <p:cNvPr id="4" name="card stat 1"/>
          <p:cNvSpPr/>
          <p:nvPr/>
        </p:nvSpPr>
        <p:spPr>
          <a:xfrm>
            <a:off x="548640" y="1874520"/>
            <a:ext cx="3520440" cy="2057400"/>
          </a:xfrm>
          <a:prstGeom prst="roundRect">
            <a:avLst>
              <a:gd name="adj" fmla="val 3556"/>
            </a:avLst>
          </a:prstGeom>
          <a:solidFill>
            <a:srgbClr val="EEF4F3"/>
          </a:solidFill>
          <a:ln w="12700">
            <a:solidFill>
              <a:srgbClr val="EEF4F3"/>
            </a:solidFill>
            <a:prstDash val="solid"/>
          </a:ln>
        </p:spPr>
      </p:sp>
      <p:sp>
        <p:nvSpPr>
          <p:cNvPr id="5" name="stat 1"/>
          <p:cNvSpPr txBox="1"/>
          <p:nvPr/>
        </p:nvSpPr>
        <p:spPr>
          <a:xfrm>
            <a:off x="777240" y="2011680"/>
            <a:ext cx="3108960" cy="1828800"/>
          </a:xfrm>
          <a:prstGeom prst="rect">
            <a:avLst/>
          </a:prstGeom>
          <a:noFill/>
          <a:ln/>
        </p:spPr>
        <p:txBody>
          <a:bodyPr wrap="square" lIns="0" tIns="0" rIns="0" bIns="0" rtlCol="0" anchor="t"/>
          <a:lstStyle/>
          <a:p>
            <a:pPr indent="0" marL="0">
              <a:buNone/>
            </a:pPr>
            <a:r>
              <a:rPr lang="en-US" sz="6000" b="1" dirty="0">
                <a:solidFill>
                  <a:srgbClr val="B0412E"/>
                </a:solidFill>
                <a:latin typeface="Cambria" pitchFamily="34" charset="0"/>
                <a:ea typeface="Cambria" pitchFamily="34" charset="-122"/>
                <a:cs typeface="Cambria" pitchFamily="34" charset="-120"/>
              </a:rPr>
              <a:t>1,7%</a:t>
            </a:r>
            <a:endParaRPr lang="en-US" sz="6000" dirty="0"/>
          </a:p>
          <a:p>
            <a:pPr indent="0" marL="0">
              <a:buNone/>
            </a:pPr>
            <a:r>
              <a:rPr lang="en-US" sz="1500" dirty="0">
                <a:solidFill>
                  <a:srgbClr val="1C2230"/>
                </a:solidFill>
              </a:rPr>
              <a:t>dos clientes atrasaram 60 dias ou mais (616 de 36.457)</a:t>
            </a:r>
            <a:endParaRPr lang="en-US" sz="6000" dirty="0"/>
          </a:p>
        </p:txBody>
      </p:sp>
      <p:sp>
        <p:nvSpPr>
          <p:cNvPr id="6" name="card stat 2"/>
          <p:cNvSpPr/>
          <p:nvPr/>
        </p:nvSpPr>
        <p:spPr>
          <a:xfrm>
            <a:off x="4343400" y="1874520"/>
            <a:ext cx="3520440" cy="2057400"/>
          </a:xfrm>
          <a:prstGeom prst="roundRect">
            <a:avLst>
              <a:gd name="adj" fmla="val 3556"/>
            </a:avLst>
          </a:prstGeom>
          <a:solidFill>
            <a:srgbClr val="EEF4F3"/>
          </a:solidFill>
          <a:ln w="12700">
            <a:solidFill>
              <a:srgbClr val="EEF4F3"/>
            </a:solidFill>
            <a:prstDash val="solid"/>
          </a:ln>
        </p:spPr>
      </p:sp>
      <p:sp>
        <p:nvSpPr>
          <p:cNvPr id="7" name="stat 2"/>
          <p:cNvSpPr txBox="1"/>
          <p:nvPr/>
        </p:nvSpPr>
        <p:spPr>
          <a:xfrm>
            <a:off x="4572000" y="2011680"/>
            <a:ext cx="3108960" cy="1828800"/>
          </a:xfrm>
          <a:prstGeom prst="rect">
            <a:avLst/>
          </a:prstGeom>
          <a:noFill/>
          <a:ln/>
        </p:spPr>
        <p:txBody>
          <a:bodyPr wrap="square" lIns="0" tIns="0" rIns="0" bIns="0" rtlCol="0" anchor="t"/>
          <a:lstStyle/>
          <a:p>
            <a:pPr indent="0" marL="0">
              <a:buNone/>
            </a:pPr>
            <a:r>
              <a:rPr lang="en-US" sz="6000" b="1" dirty="0">
                <a:solidFill>
                  <a:srgbClr val="0F5C57"/>
                </a:solidFill>
                <a:latin typeface="Cambria" pitchFamily="34" charset="0"/>
                <a:ea typeface="Cambria" pitchFamily="34" charset="-122"/>
                <a:cs typeface="Cambria" pitchFamily="34" charset="-120"/>
              </a:rPr>
              <a:t>98,3%</a:t>
            </a:r>
            <a:endParaRPr lang="en-US" sz="6000" dirty="0"/>
          </a:p>
          <a:p>
            <a:pPr indent="0" marL="0">
              <a:buNone/>
            </a:pPr>
            <a:r>
              <a:rPr lang="en-US" sz="1500" dirty="0">
                <a:solidFill>
                  <a:srgbClr val="1C2230"/>
                </a:solidFill>
              </a:rPr>
              <a:t>de acerto para quem disser "todos são bons", sem achar nenhum caso de risco</a:t>
            </a:r>
            <a:endParaRPr lang="en-US" sz="6000" dirty="0"/>
          </a:p>
        </p:txBody>
      </p:sp>
      <p:sp>
        <p:nvSpPr>
          <p:cNvPr id="8" name="nota acerto"/>
          <p:cNvSpPr txBox="1"/>
          <p:nvPr/>
        </p:nvSpPr>
        <p:spPr>
          <a:xfrm>
            <a:off x="548640" y="4206240"/>
            <a:ext cx="7315200" cy="731520"/>
          </a:xfrm>
          <a:prstGeom prst="rect">
            <a:avLst/>
          </a:prstGeom>
          <a:noFill/>
          <a:ln/>
        </p:spPr>
        <p:txBody>
          <a:bodyPr wrap="square" lIns="0" tIns="0" rIns="0" bIns="0" rtlCol="0" anchor="ctr"/>
          <a:lstStyle/>
          <a:p>
            <a:pPr indent="0" marL="0">
              <a:buNone/>
            </a:pPr>
            <a:r>
              <a:rPr lang="en-US" sz="1600" b="1" dirty="0">
                <a:solidFill>
                  <a:srgbClr val="1C2230"/>
                </a:solidFill>
              </a:rPr>
              <a:t>Por isso a taxa de acerto engana. </a:t>
            </a:r>
            <a:pPr indent="0" marL="0">
              <a:buNone/>
            </a:pPr>
            <a:r>
              <a:rPr lang="en-US" sz="1600" dirty="0">
                <a:solidFill>
                  <a:srgbClr val="1C2230"/>
                </a:solidFill>
              </a:rPr>
              <a:t>Medimos o modelo pela capacidade de colocar os maus pagadores no topo da lista.</a:t>
            </a:r>
            <a:endParaRPr lang="en-US" sz="1600" dirty="0"/>
          </a:p>
        </p:txBody>
      </p:sp>
      <p:sp>
        <p:nvSpPr>
          <p:cNvPr id="9" name="card pergunta"/>
          <p:cNvSpPr/>
          <p:nvPr/>
        </p:nvSpPr>
        <p:spPr>
          <a:xfrm>
            <a:off x="8229600" y="1874520"/>
            <a:ext cx="3429000" cy="4206240"/>
          </a:xfrm>
          <a:prstGeom prst="roundRect">
            <a:avLst>
              <a:gd name="adj" fmla="val 2133"/>
            </a:avLst>
          </a:prstGeom>
          <a:solidFill>
            <a:srgbClr val="0B3D3A"/>
          </a:solidFill>
          <a:ln w="12700">
            <a:solidFill>
              <a:srgbClr val="0B3D3A"/>
            </a:solidFill>
            <a:prstDash val="solid"/>
          </a:ln>
        </p:spPr>
      </p:sp>
      <p:pic>
        <p:nvPicPr>
          <p:cNvPr id="10" name="Image 0" descr="lupa">    </p:cNvPr>
          <p:cNvPicPr>
            <a:picLocks noChangeAspect="1"/>
          </p:cNvPicPr>
          <p:nvPr/>
        </p:nvPicPr>
        <p:blipFill>
          <a:blip r:embed="rId1"/>
          <a:stretch>
            <a:fillRect/>
          </a:stretch>
        </p:blipFill>
        <p:spPr>
          <a:xfrm>
            <a:off x="8503920" y="2148840"/>
            <a:ext cx="502920" cy="502920"/>
          </a:xfrm>
          <a:prstGeom prst="rect">
            <a:avLst/>
          </a:prstGeom>
        </p:spPr>
      </p:pic>
      <p:sp>
        <p:nvSpPr>
          <p:cNvPr id="11" name="pergunta"/>
          <p:cNvSpPr txBox="1"/>
          <p:nvPr/>
        </p:nvSpPr>
        <p:spPr>
          <a:xfrm>
            <a:off x="8503920" y="2834640"/>
            <a:ext cx="2926080" cy="3017520"/>
          </a:xfrm>
          <a:prstGeom prst="rect">
            <a:avLst/>
          </a:prstGeom>
          <a:noFill/>
          <a:ln/>
        </p:spPr>
        <p:txBody>
          <a:bodyPr wrap="square" lIns="0" tIns="0" rIns="0" bIns="0" rtlCol="0" anchor="t"/>
          <a:lstStyle/>
          <a:p>
            <a:pPr indent="0" marL="0">
              <a:buNone/>
            </a:pPr>
            <a:r>
              <a:rPr lang="en-US" sz="1800" b="1" dirty="0">
                <a:solidFill>
                  <a:srgbClr val="FFFFFF"/>
                </a:solidFill>
              </a:rPr>
              <a:t>A pergunta do projeto</a:t>
            </a:r>
            <a:endParaRPr lang="en-US" sz="1800" dirty="0"/>
          </a:p>
          <a:p>
            <a:pPr indent="0" marL="0">
              <a:buNone/>
            </a:pPr>
            <a:r>
              <a:rPr lang="en-US" sz="800" dirty="0">
                <a:solidFill>
                  <a:srgbClr val="000000"/>
                </a:solidFill>
              </a:rPr>
              <a:t> </a:t>
            </a:r>
            <a:endParaRPr lang="en-US" sz="1800" dirty="0"/>
          </a:p>
          <a:p>
            <a:pPr indent="0" marL="0">
              <a:buNone/>
            </a:pPr>
            <a:r>
              <a:rPr lang="en-US" sz="1600" dirty="0">
                <a:solidFill>
                  <a:srgbClr val="D9E7E5"/>
                </a:solidFill>
              </a:rPr>
              <a:t>Com o que sabemos de cada cliente, dá para ordenar os pedidos pelo risco e mandar para análise humana primeiro os que mais precisam?</a:t>
            </a:r>
            <a:endParaRPr lang="en-US" sz="1800" dirty="0"/>
          </a:p>
        </p:txBody>
      </p:sp>
      <p:sp>
        <p:nvSpPr>
          <p:cNvPr id="12" name="ponto 0"/>
          <p:cNvSpPr/>
          <p:nvPr/>
        </p:nvSpPr>
        <p:spPr>
          <a:xfrm>
            <a:off x="548640" y="5166360"/>
            <a:ext cx="137160" cy="137160"/>
          </a:xfrm>
          <a:prstGeom prst="ellipse">
            <a:avLst/>
          </a:prstGeom>
          <a:solidFill>
            <a:srgbClr val="C9D3D1"/>
          </a:solidFill>
          <a:ln w="12700">
            <a:solidFill>
              <a:srgbClr val="C9D3D1"/>
            </a:solidFill>
            <a:prstDash val="solid"/>
          </a:ln>
        </p:spPr>
      </p:sp>
      <p:sp>
        <p:nvSpPr>
          <p:cNvPr id="13" name="ponto 1"/>
          <p:cNvSpPr/>
          <p:nvPr/>
        </p:nvSpPr>
        <p:spPr>
          <a:xfrm>
            <a:off x="795528" y="5166360"/>
            <a:ext cx="137160" cy="137160"/>
          </a:xfrm>
          <a:prstGeom prst="ellipse">
            <a:avLst/>
          </a:prstGeom>
          <a:solidFill>
            <a:srgbClr val="C9D3D1"/>
          </a:solidFill>
          <a:ln w="12700">
            <a:solidFill>
              <a:srgbClr val="C9D3D1"/>
            </a:solidFill>
            <a:prstDash val="solid"/>
          </a:ln>
        </p:spPr>
      </p:sp>
      <p:sp>
        <p:nvSpPr>
          <p:cNvPr id="14" name="ponto 2"/>
          <p:cNvSpPr/>
          <p:nvPr/>
        </p:nvSpPr>
        <p:spPr>
          <a:xfrm>
            <a:off x="1042416" y="5166360"/>
            <a:ext cx="137160" cy="137160"/>
          </a:xfrm>
          <a:prstGeom prst="ellipse">
            <a:avLst/>
          </a:prstGeom>
          <a:solidFill>
            <a:srgbClr val="C9D3D1"/>
          </a:solidFill>
          <a:ln w="12700">
            <a:solidFill>
              <a:srgbClr val="C9D3D1"/>
            </a:solidFill>
            <a:prstDash val="solid"/>
          </a:ln>
        </p:spPr>
      </p:sp>
      <p:sp>
        <p:nvSpPr>
          <p:cNvPr id="15" name="ponto 3"/>
          <p:cNvSpPr/>
          <p:nvPr/>
        </p:nvSpPr>
        <p:spPr>
          <a:xfrm>
            <a:off x="1289304" y="5166360"/>
            <a:ext cx="137160" cy="137160"/>
          </a:xfrm>
          <a:prstGeom prst="ellipse">
            <a:avLst/>
          </a:prstGeom>
          <a:solidFill>
            <a:srgbClr val="C9D3D1"/>
          </a:solidFill>
          <a:ln w="12700">
            <a:solidFill>
              <a:srgbClr val="C9D3D1"/>
            </a:solidFill>
            <a:prstDash val="solid"/>
          </a:ln>
        </p:spPr>
      </p:sp>
      <p:sp>
        <p:nvSpPr>
          <p:cNvPr id="16" name="ponto 4"/>
          <p:cNvSpPr/>
          <p:nvPr/>
        </p:nvSpPr>
        <p:spPr>
          <a:xfrm>
            <a:off x="1536192" y="5166360"/>
            <a:ext cx="137160" cy="137160"/>
          </a:xfrm>
          <a:prstGeom prst="ellipse">
            <a:avLst/>
          </a:prstGeom>
          <a:solidFill>
            <a:srgbClr val="C9D3D1"/>
          </a:solidFill>
          <a:ln w="12700">
            <a:solidFill>
              <a:srgbClr val="C9D3D1"/>
            </a:solidFill>
            <a:prstDash val="solid"/>
          </a:ln>
        </p:spPr>
      </p:sp>
      <p:sp>
        <p:nvSpPr>
          <p:cNvPr id="17" name="ponto 5"/>
          <p:cNvSpPr/>
          <p:nvPr/>
        </p:nvSpPr>
        <p:spPr>
          <a:xfrm>
            <a:off x="1783080" y="5166360"/>
            <a:ext cx="137160" cy="137160"/>
          </a:xfrm>
          <a:prstGeom prst="ellipse">
            <a:avLst/>
          </a:prstGeom>
          <a:solidFill>
            <a:srgbClr val="C9D3D1"/>
          </a:solidFill>
          <a:ln w="12700">
            <a:solidFill>
              <a:srgbClr val="C9D3D1"/>
            </a:solidFill>
            <a:prstDash val="solid"/>
          </a:ln>
        </p:spPr>
      </p:sp>
      <p:sp>
        <p:nvSpPr>
          <p:cNvPr id="18" name="ponto 6"/>
          <p:cNvSpPr/>
          <p:nvPr/>
        </p:nvSpPr>
        <p:spPr>
          <a:xfrm>
            <a:off x="2029968" y="5166360"/>
            <a:ext cx="137160" cy="137160"/>
          </a:xfrm>
          <a:prstGeom prst="ellipse">
            <a:avLst/>
          </a:prstGeom>
          <a:solidFill>
            <a:srgbClr val="C9D3D1"/>
          </a:solidFill>
          <a:ln w="12700">
            <a:solidFill>
              <a:srgbClr val="C9D3D1"/>
            </a:solidFill>
            <a:prstDash val="solid"/>
          </a:ln>
        </p:spPr>
      </p:sp>
      <p:sp>
        <p:nvSpPr>
          <p:cNvPr id="19" name="ponto 7"/>
          <p:cNvSpPr/>
          <p:nvPr/>
        </p:nvSpPr>
        <p:spPr>
          <a:xfrm>
            <a:off x="2276856" y="5166360"/>
            <a:ext cx="137160" cy="137160"/>
          </a:xfrm>
          <a:prstGeom prst="ellipse">
            <a:avLst/>
          </a:prstGeom>
          <a:solidFill>
            <a:srgbClr val="C9D3D1"/>
          </a:solidFill>
          <a:ln w="12700">
            <a:solidFill>
              <a:srgbClr val="C9D3D1"/>
            </a:solidFill>
            <a:prstDash val="solid"/>
          </a:ln>
        </p:spPr>
      </p:sp>
      <p:sp>
        <p:nvSpPr>
          <p:cNvPr id="20" name="ponto 8"/>
          <p:cNvSpPr/>
          <p:nvPr/>
        </p:nvSpPr>
        <p:spPr>
          <a:xfrm>
            <a:off x="2523744" y="5166360"/>
            <a:ext cx="137160" cy="137160"/>
          </a:xfrm>
          <a:prstGeom prst="ellipse">
            <a:avLst/>
          </a:prstGeom>
          <a:solidFill>
            <a:srgbClr val="C9D3D1"/>
          </a:solidFill>
          <a:ln w="12700">
            <a:solidFill>
              <a:srgbClr val="C9D3D1"/>
            </a:solidFill>
            <a:prstDash val="solid"/>
          </a:ln>
        </p:spPr>
      </p:sp>
      <p:sp>
        <p:nvSpPr>
          <p:cNvPr id="21" name="ponto 9"/>
          <p:cNvSpPr/>
          <p:nvPr/>
        </p:nvSpPr>
        <p:spPr>
          <a:xfrm>
            <a:off x="2770632" y="5166360"/>
            <a:ext cx="137160" cy="137160"/>
          </a:xfrm>
          <a:prstGeom prst="ellipse">
            <a:avLst/>
          </a:prstGeom>
          <a:solidFill>
            <a:srgbClr val="C9D3D1"/>
          </a:solidFill>
          <a:ln w="12700">
            <a:solidFill>
              <a:srgbClr val="C9D3D1"/>
            </a:solidFill>
            <a:prstDash val="solid"/>
          </a:ln>
        </p:spPr>
      </p:sp>
      <p:sp>
        <p:nvSpPr>
          <p:cNvPr id="22" name="ponto 10"/>
          <p:cNvSpPr/>
          <p:nvPr/>
        </p:nvSpPr>
        <p:spPr>
          <a:xfrm>
            <a:off x="3017520" y="5166360"/>
            <a:ext cx="137160" cy="137160"/>
          </a:xfrm>
          <a:prstGeom prst="ellipse">
            <a:avLst/>
          </a:prstGeom>
          <a:solidFill>
            <a:srgbClr val="C9D3D1"/>
          </a:solidFill>
          <a:ln w="12700">
            <a:solidFill>
              <a:srgbClr val="C9D3D1"/>
            </a:solidFill>
            <a:prstDash val="solid"/>
          </a:ln>
        </p:spPr>
      </p:sp>
      <p:sp>
        <p:nvSpPr>
          <p:cNvPr id="23" name="ponto 11"/>
          <p:cNvSpPr/>
          <p:nvPr/>
        </p:nvSpPr>
        <p:spPr>
          <a:xfrm>
            <a:off x="3264408" y="5166360"/>
            <a:ext cx="137160" cy="137160"/>
          </a:xfrm>
          <a:prstGeom prst="ellipse">
            <a:avLst/>
          </a:prstGeom>
          <a:solidFill>
            <a:srgbClr val="C9D3D1"/>
          </a:solidFill>
          <a:ln w="12700">
            <a:solidFill>
              <a:srgbClr val="C9D3D1"/>
            </a:solidFill>
            <a:prstDash val="solid"/>
          </a:ln>
        </p:spPr>
      </p:sp>
      <p:sp>
        <p:nvSpPr>
          <p:cNvPr id="24" name="ponto 12"/>
          <p:cNvSpPr/>
          <p:nvPr/>
        </p:nvSpPr>
        <p:spPr>
          <a:xfrm>
            <a:off x="3511296" y="5166360"/>
            <a:ext cx="137160" cy="137160"/>
          </a:xfrm>
          <a:prstGeom prst="ellipse">
            <a:avLst/>
          </a:prstGeom>
          <a:solidFill>
            <a:srgbClr val="C9D3D1"/>
          </a:solidFill>
          <a:ln w="12700">
            <a:solidFill>
              <a:srgbClr val="C9D3D1"/>
            </a:solidFill>
            <a:prstDash val="solid"/>
          </a:ln>
        </p:spPr>
      </p:sp>
      <p:sp>
        <p:nvSpPr>
          <p:cNvPr id="25" name="ponto 13"/>
          <p:cNvSpPr/>
          <p:nvPr/>
        </p:nvSpPr>
        <p:spPr>
          <a:xfrm>
            <a:off x="3758184" y="5166360"/>
            <a:ext cx="137160" cy="137160"/>
          </a:xfrm>
          <a:prstGeom prst="ellipse">
            <a:avLst/>
          </a:prstGeom>
          <a:solidFill>
            <a:srgbClr val="C9D3D1"/>
          </a:solidFill>
          <a:ln w="12700">
            <a:solidFill>
              <a:srgbClr val="C9D3D1"/>
            </a:solidFill>
            <a:prstDash val="solid"/>
          </a:ln>
        </p:spPr>
      </p:sp>
      <p:sp>
        <p:nvSpPr>
          <p:cNvPr id="26" name="ponto 14"/>
          <p:cNvSpPr/>
          <p:nvPr/>
        </p:nvSpPr>
        <p:spPr>
          <a:xfrm>
            <a:off x="4005072" y="5166360"/>
            <a:ext cx="137160" cy="137160"/>
          </a:xfrm>
          <a:prstGeom prst="ellipse">
            <a:avLst/>
          </a:prstGeom>
          <a:solidFill>
            <a:srgbClr val="C9D3D1"/>
          </a:solidFill>
          <a:ln w="12700">
            <a:solidFill>
              <a:srgbClr val="C9D3D1"/>
            </a:solidFill>
            <a:prstDash val="solid"/>
          </a:ln>
        </p:spPr>
      </p:sp>
      <p:sp>
        <p:nvSpPr>
          <p:cNvPr id="27" name="ponto 15"/>
          <p:cNvSpPr/>
          <p:nvPr/>
        </p:nvSpPr>
        <p:spPr>
          <a:xfrm>
            <a:off x="4251960" y="5166360"/>
            <a:ext cx="137160" cy="137160"/>
          </a:xfrm>
          <a:prstGeom prst="ellipse">
            <a:avLst/>
          </a:prstGeom>
          <a:solidFill>
            <a:srgbClr val="C9D3D1"/>
          </a:solidFill>
          <a:ln w="12700">
            <a:solidFill>
              <a:srgbClr val="C9D3D1"/>
            </a:solidFill>
            <a:prstDash val="solid"/>
          </a:ln>
        </p:spPr>
      </p:sp>
      <p:sp>
        <p:nvSpPr>
          <p:cNvPr id="28" name="ponto 16"/>
          <p:cNvSpPr/>
          <p:nvPr/>
        </p:nvSpPr>
        <p:spPr>
          <a:xfrm>
            <a:off x="4498848" y="5166360"/>
            <a:ext cx="137160" cy="137160"/>
          </a:xfrm>
          <a:prstGeom prst="ellipse">
            <a:avLst/>
          </a:prstGeom>
          <a:solidFill>
            <a:srgbClr val="C9D3D1"/>
          </a:solidFill>
          <a:ln w="12700">
            <a:solidFill>
              <a:srgbClr val="C9D3D1"/>
            </a:solidFill>
            <a:prstDash val="solid"/>
          </a:ln>
        </p:spPr>
      </p:sp>
      <p:sp>
        <p:nvSpPr>
          <p:cNvPr id="29" name="ponto 17"/>
          <p:cNvSpPr/>
          <p:nvPr/>
        </p:nvSpPr>
        <p:spPr>
          <a:xfrm>
            <a:off x="4745736" y="5166360"/>
            <a:ext cx="137160" cy="137160"/>
          </a:xfrm>
          <a:prstGeom prst="ellipse">
            <a:avLst/>
          </a:prstGeom>
          <a:solidFill>
            <a:srgbClr val="C9D3D1"/>
          </a:solidFill>
          <a:ln w="12700">
            <a:solidFill>
              <a:srgbClr val="C9D3D1"/>
            </a:solidFill>
            <a:prstDash val="solid"/>
          </a:ln>
        </p:spPr>
      </p:sp>
      <p:sp>
        <p:nvSpPr>
          <p:cNvPr id="30" name="ponto 18"/>
          <p:cNvSpPr/>
          <p:nvPr/>
        </p:nvSpPr>
        <p:spPr>
          <a:xfrm>
            <a:off x="4992624" y="5166360"/>
            <a:ext cx="137160" cy="137160"/>
          </a:xfrm>
          <a:prstGeom prst="ellipse">
            <a:avLst/>
          </a:prstGeom>
          <a:solidFill>
            <a:srgbClr val="C9D3D1"/>
          </a:solidFill>
          <a:ln w="12700">
            <a:solidFill>
              <a:srgbClr val="C9D3D1"/>
            </a:solidFill>
            <a:prstDash val="solid"/>
          </a:ln>
        </p:spPr>
      </p:sp>
      <p:sp>
        <p:nvSpPr>
          <p:cNvPr id="31" name="ponto 19"/>
          <p:cNvSpPr/>
          <p:nvPr/>
        </p:nvSpPr>
        <p:spPr>
          <a:xfrm>
            <a:off x="5239512" y="5166360"/>
            <a:ext cx="137160" cy="137160"/>
          </a:xfrm>
          <a:prstGeom prst="ellipse">
            <a:avLst/>
          </a:prstGeom>
          <a:solidFill>
            <a:srgbClr val="C9D3D1"/>
          </a:solidFill>
          <a:ln w="12700">
            <a:solidFill>
              <a:srgbClr val="C9D3D1"/>
            </a:solidFill>
            <a:prstDash val="solid"/>
          </a:ln>
        </p:spPr>
      </p:sp>
      <p:sp>
        <p:nvSpPr>
          <p:cNvPr id="32" name="ponto 20"/>
          <p:cNvSpPr/>
          <p:nvPr/>
        </p:nvSpPr>
        <p:spPr>
          <a:xfrm>
            <a:off x="5486400" y="5166360"/>
            <a:ext cx="137160" cy="137160"/>
          </a:xfrm>
          <a:prstGeom prst="ellipse">
            <a:avLst/>
          </a:prstGeom>
          <a:solidFill>
            <a:srgbClr val="C9D3D1"/>
          </a:solidFill>
          <a:ln w="12700">
            <a:solidFill>
              <a:srgbClr val="C9D3D1"/>
            </a:solidFill>
            <a:prstDash val="solid"/>
          </a:ln>
        </p:spPr>
      </p:sp>
      <p:sp>
        <p:nvSpPr>
          <p:cNvPr id="33" name="ponto 21"/>
          <p:cNvSpPr/>
          <p:nvPr/>
        </p:nvSpPr>
        <p:spPr>
          <a:xfrm>
            <a:off x="5733288" y="5166360"/>
            <a:ext cx="137160" cy="137160"/>
          </a:xfrm>
          <a:prstGeom prst="ellipse">
            <a:avLst/>
          </a:prstGeom>
          <a:solidFill>
            <a:srgbClr val="C9D3D1"/>
          </a:solidFill>
          <a:ln w="12700">
            <a:solidFill>
              <a:srgbClr val="C9D3D1"/>
            </a:solidFill>
            <a:prstDash val="solid"/>
          </a:ln>
        </p:spPr>
      </p:sp>
      <p:sp>
        <p:nvSpPr>
          <p:cNvPr id="34" name="ponto 22"/>
          <p:cNvSpPr/>
          <p:nvPr/>
        </p:nvSpPr>
        <p:spPr>
          <a:xfrm>
            <a:off x="5980176" y="5166360"/>
            <a:ext cx="137160" cy="137160"/>
          </a:xfrm>
          <a:prstGeom prst="ellipse">
            <a:avLst/>
          </a:prstGeom>
          <a:solidFill>
            <a:srgbClr val="C9D3D1"/>
          </a:solidFill>
          <a:ln w="12700">
            <a:solidFill>
              <a:srgbClr val="C9D3D1"/>
            </a:solidFill>
            <a:prstDash val="solid"/>
          </a:ln>
        </p:spPr>
      </p:sp>
      <p:sp>
        <p:nvSpPr>
          <p:cNvPr id="35" name="ponto 23"/>
          <p:cNvSpPr/>
          <p:nvPr/>
        </p:nvSpPr>
        <p:spPr>
          <a:xfrm>
            <a:off x="6227064" y="5166360"/>
            <a:ext cx="137160" cy="137160"/>
          </a:xfrm>
          <a:prstGeom prst="ellipse">
            <a:avLst/>
          </a:prstGeom>
          <a:solidFill>
            <a:srgbClr val="C9D3D1"/>
          </a:solidFill>
          <a:ln w="12700">
            <a:solidFill>
              <a:srgbClr val="C9D3D1"/>
            </a:solidFill>
            <a:prstDash val="solid"/>
          </a:ln>
        </p:spPr>
      </p:sp>
      <p:sp>
        <p:nvSpPr>
          <p:cNvPr id="36" name="ponto 24"/>
          <p:cNvSpPr/>
          <p:nvPr/>
        </p:nvSpPr>
        <p:spPr>
          <a:xfrm>
            <a:off x="6473952" y="5166360"/>
            <a:ext cx="137160" cy="137160"/>
          </a:xfrm>
          <a:prstGeom prst="ellipse">
            <a:avLst/>
          </a:prstGeom>
          <a:solidFill>
            <a:srgbClr val="C9D3D1"/>
          </a:solidFill>
          <a:ln w="12700">
            <a:solidFill>
              <a:srgbClr val="C9D3D1"/>
            </a:solidFill>
            <a:prstDash val="solid"/>
          </a:ln>
        </p:spPr>
      </p:sp>
      <p:sp>
        <p:nvSpPr>
          <p:cNvPr id="37" name="ponto 25"/>
          <p:cNvSpPr/>
          <p:nvPr/>
        </p:nvSpPr>
        <p:spPr>
          <a:xfrm>
            <a:off x="6720840" y="5166360"/>
            <a:ext cx="137160" cy="137160"/>
          </a:xfrm>
          <a:prstGeom prst="ellipse">
            <a:avLst/>
          </a:prstGeom>
          <a:solidFill>
            <a:srgbClr val="C9D3D1"/>
          </a:solidFill>
          <a:ln w="12700">
            <a:solidFill>
              <a:srgbClr val="C9D3D1"/>
            </a:solidFill>
            <a:prstDash val="solid"/>
          </a:ln>
        </p:spPr>
      </p:sp>
      <p:sp>
        <p:nvSpPr>
          <p:cNvPr id="38" name="ponto 26"/>
          <p:cNvSpPr/>
          <p:nvPr/>
        </p:nvSpPr>
        <p:spPr>
          <a:xfrm>
            <a:off x="6967728" y="5166360"/>
            <a:ext cx="137160" cy="137160"/>
          </a:xfrm>
          <a:prstGeom prst="ellipse">
            <a:avLst/>
          </a:prstGeom>
          <a:solidFill>
            <a:srgbClr val="C9D3D1"/>
          </a:solidFill>
          <a:ln w="12700">
            <a:solidFill>
              <a:srgbClr val="C9D3D1"/>
            </a:solidFill>
            <a:prstDash val="solid"/>
          </a:ln>
        </p:spPr>
      </p:sp>
      <p:sp>
        <p:nvSpPr>
          <p:cNvPr id="39" name="ponto 27"/>
          <p:cNvSpPr/>
          <p:nvPr/>
        </p:nvSpPr>
        <p:spPr>
          <a:xfrm>
            <a:off x="7214616" y="5166360"/>
            <a:ext cx="137160" cy="137160"/>
          </a:xfrm>
          <a:prstGeom prst="ellipse">
            <a:avLst/>
          </a:prstGeom>
          <a:solidFill>
            <a:srgbClr val="C9D3D1"/>
          </a:solidFill>
          <a:ln w="12700">
            <a:solidFill>
              <a:srgbClr val="C9D3D1"/>
            </a:solidFill>
            <a:prstDash val="solid"/>
          </a:ln>
        </p:spPr>
      </p:sp>
      <p:sp>
        <p:nvSpPr>
          <p:cNvPr id="40" name="ponto 28"/>
          <p:cNvSpPr/>
          <p:nvPr/>
        </p:nvSpPr>
        <p:spPr>
          <a:xfrm>
            <a:off x="7461504" y="5166360"/>
            <a:ext cx="137160" cy="137160"/>
          </a:xfrm>
          <a:prstGeom prst="ellipse">
            <a:avLst/>
          </a:prstGeom>
          <a:solidFill>
            <a:srgbClr val="C9D3D1"/>
          </a:solidFill>
          <a:ln w="12700">
            <a:solidFill>
              <a:srgbClr val="C9D3D1"/>
            </a:solidFill>
            <a:prstDash val="solid"/>
          </a:ln>
        </p:spPr>
      </p:sp>
      <p:sp>
        <p:nvSpPr>
          <p:cNvPr id="41" name="ponto 29"/>
          <p:cNvSpPr/>
          <p:nvPr/>
        </p:nvSpPr>
        <p:spPr>
          <a:xfrm>
            <a:off x="7708392" y="5166360"/>
            <a:ext cx="137160" cy="137160"/>
          </a:xfrm>
          <a:prstGeom prst="ellipse">
            <a:avLst/>
          </a:prstGeom>
          <a:solidFill>
            <a:srgbClr val="C9D3D1"/>
          </a:solidFill>
          <a:ln w="12700">
            <a:solidFill>
              <a:srgbClr val="C9D3D1"/>
            </a:solidFill>
            <a:prstDash val="solid"/>
          </a:ln>
        </p:spPr>
      </p:sp>
      <p:sp>
        <p:nvSpPr>
          <p:cNvPr id="42" name="ponto 30"/>
          <p:cNvSpPr/>
          <p:nvPr/>
        </p:nvSpPr>
        <p:spPr>
          <a:xfrm>
            <a:off x="548640" y="5413248"/>
            <a:ext cx="137160" cy="137160"/>
          </a:xfrm>
          <a:prstGeom prst="ellipse">
            <a:avLst/>
          </a:prstGeom>
          <a:solidFill>
            <a:srgbClr val="C9D3D1"/>
          </a:solidFill>
          <a:ln w="12700">
            <a:solidFill>
              <a:srgbClr val="C9D3D1"/>
            </a:solidFill>
            <a:prstDash val="solid"/>
          </a:ln>
        </p:spPr>
      </p:sp>
      <p:sp>
        <p:nvSpPr>
          <p:cNvPr id="43" name="ponto 31"/>
          <p:cNvSpPr/>
          <p:nvPr/>
        </p:nvSpPr>
        <p:spPr>
          <a:xfrm>
            <a:off x="795528" y="5413248"/>
            <a:ext cx="137160" cy="137160"/>
          </a:xfrm>
          <a:prstGeom prst="ellipse">
            <a:avLst/>
          </a:prstGeom>
          <a:solidFill>
            <a:srgbClr val="C9D3D1"/>
          </a:solidFill>
          <a:ln w="12700">
            <a:solidFill>
              <a:srgbClr val="C9D3D1"/>
            </a:solidFill>
            <a:prstDash val="solid"/>
          </a:ln>
        </p:spPr>
      </p:sp>
      <p:sp>
        <p:nvSpPr>
          <p:cNvPr id="44" name="ponto 32"/>
          <p:cNvSpPr/>
          <p:nvPr/>
        </p:nvSpPr>
        <p:spPr>
          <a:xfrm>
            <a:off x="1042416" y="5413248"/>
            <a:ext cx="137160" cy="137160"/>
          </a:xfrm>
          <a:prstGeom prst="ellipse">
            <a:avLst/>
          </a:prstGeom>
          <a:solidFill>
            <a:srgbClr val="C9D3D1"/>
          </a:solidFill>
          <a:ln w="12700">
            <a:solidFill>
              <a:srgbClr val="C9D3D1"/>
            </a:solidFill>
            <a:prstDash val="solid"/>
          </a:ln>
        </p:spPr>
      </p:sp>
      <p:sp>
        <p:nvSpPr>
          <p:cNvPr id="45" name="ponto 33"/>
          <p:cNvSpPr/>
          <p:nvPr/>
        </p:nvSpPr>
        <p:spPr>
          <a:xfrm>
            <a:off x="1289304" y="5413248"/>
            <a:ext cx="137160" cy="137160"/>
          </a:xfrm>
          <a:prstGeom prst="ellipse">
            <a:avLst/>
          </a:prstGeom>
          <a:solidFill>
            <a:srgbClr val="C9D3D1"/>
          </a:solidFill>
          <a:ln w="12700">
            <a:solidFill>
              <a:srgbClr val="C9D3D1"/>
            </a:solidFill>
            <a:prstDash val="solid"/>
          </a:ln>
        </p:spPr>
      </p:sp>
      <p:sp>
        <p:nvSpPr>
          <p:cNvPr id="46" name="ponto 34"/>
          <p:cNvSpPr/>
          <p:nvPr/>
        </p:nvSpPr>
        <p:spPr>
          <a:xfrm>
            <a:off x="1536192" y="5413248"/>
            <a:ext cx="137160" cy="137160"/>
          </a:xfrm>
          <a:prstGeom prst="ellipse">
            <a:avLst/>
          </a:prstGeom>
          <a:solidFill>
            <a:srgbClr val="C9D3D1"/>
          </a:solidFill>
          <a:ln w="12700">
            <a:solidFill>
              <a:srgbClr val="C9D3D1"/>
            </a:solidFill>
            <a:prstDash val="solid"/>
          </a:ln>
        </p:spPr>
      </p:sp>
      <p:sp>
        <p:nvSpPr>
          <p:cNvPr id="47" name="ponto 35"/>
          <p:cNvSpPr/>
          <p:nvPr/>
        </p:nvSpPr>
        <p:spPr>
          <a:xfrm>
            <a:off x="1783080" y="5413248"/>
            <a:ext cx="137160" cy="137160"/>
          </a:xfrm>
          <a:prstGeom prst="ellipse">
            <a:avLst/>
          </a:prstGeom>
          <a:solidFill>
            <a:srgbClr val="C9D3D1"/>
          </a:solidFill>
          <a:ln w="12700">
            <a:solidFill>
              <a:srgbClr val="C9D3D1"/>
            </a:solidFill>
            <a:prstDash val="solid"/>
          </a:ln>
        </p:spPr>
      </p:sp>
      <p:sp>
        <p:nvSpPr>
          <p:cNvPr id="48" name="ponto 36"/>
          <p:cNvSpPr/>
          <p:nvPr/>
        </p:nvSpPr>
        <p:spPr>
          <a:xfrm>
            <a:off x="2029968" y="5413248"/>
            <a:ext cx="137160" cy="137160"/>
          </a:xfrm>
          <a:prstGeom prst="ellipse">
            <a:avLst/>
          </a:prstGeom>
          <a:solidFill>
            <a:srgbClr val="C9D3D1"/>
          </a:solidFill>
          <a:ln w="12700">
            <a:solidFill>
              <a:srgbClr val="C9D3D1"/>
            </a:solidFill>
            <a:prstDash val="solid"/>
          </a:ln>
        </p:spPr>
      </p:sp>
      <p:sp>
        <p:nvSpPr>
          <p:cNvPr id="49" name="ponto 37"/>
          <p:cNvSpPr/>
          <p:nvPr/>
        </p:nvSpPr>
        <p:spPr>
          <a:xfrm>
            <a:off x="2276856" y="5413248"/>
            <a:ext cx="137160" cy="137160"/>
          </a:xfrm>
          <a:prstGeom prst="ellipse">
            <a:avLst/>
          </a:prstGeom>
          <a:solidFill>
            <a:srgbClr val="C9D3D1"/>
          </a:solidFill>
          <a:ln w="12700">
            <a:solidFill>
              <a:srgbClr val="C9D3D1"/>
            </a:solidFill>
            <a:prstDash val="solid"/>
          </a:ln>
        </p:spPr>
      </p:sp>
      <p:sp>
        <p:nvSpPr>
          <p:cNvPr id="50" name="ponto 38"/>
          <p:cNvSpPr/>
          <p:nvPr/>
        </p:nvSpPr>
        <p:spPr>
          <a:xfrm>
            <a:off x="2523744" y="5413248"/>
            <a:ext cx="137160" cy="137160"/>
          </a:xfrm>
          <a:prstGeom prst="ellipse">
            <a:avLst/>
          </a:prstGeom>
          <a:solidFill>
            <a:srgbClr val="C9D3D1"/>
          </a:solidFill>
          <a:ln w="12700">
            <a:solidFill>
              <a:srgbClr val="C9D3D1"/>
            </a:solidFill>
            <a:prstDash val="solid"/>
          </a:ln>
        </p:spPr>
      </p:sp>
      <p:sp>
        <p:nvSpPr>
          <p:cNvPr id="51" name="ponto 39"/>
          <p:cNvSpPr/>
          <p:nvPr/>
        </p:nvSpPr>
        <p:spPr>
          <a:xfrm>
            <a:off x="2770632" y="5413248"/>
            <a:ext cx="137160" cy="137160"/>
          </a:xfrm>
          <a:prstGeom prst="ellipse">
            <a:avLst/>
          </a:prstGeom>
          <a:solidFill>
            <a:srgbClr val="C9D3D1"/>
          </a:solidFill>
          <a:ln w="12700">
            <a:solidFill>
              <a:srgbClr val="C9D3D1"/>
            </a:solidFill>
            <a:prstDash val="solid"/>
          </a:ln>
        </p:spPr>
      </p:sp>
      <p:sp>
        <p:nvSpPr>
          <p:cNvPr id="52" name="ponto 40"/>
          <p:cNvSpPr/>
          <p:nvPr/>
        </p:nvSpPr>
        <p:spPr>
          <a:xfrm>
            <a:off x="3017520" y="5413248"/>
            <a:ext cx="137160" cy="137160"/>
          </a:xfrm>
          <a:prstGeom prst="ellipse">
            <a:avLst/>
          </a:prstGeom>
          <a:solidFill>
            <a:srgbClr val="C9D3D1"/>
          </a:solidFill>
          <a:ln w="12700">
            <a:solidFill>
              <a:srgbClr val="C9D3D1"/>
            </a:solidFill>
            <a:prstDash val="solid"/>
          </a:ln>
        </p:spPr>
      </p:sp>
      <p:sp>
        <p:nvSpPr>
          <p:cNvPr id="53" name="ponto 41"/>
          <p:cNvSpPr/>
          <p:nvPr/>
        </p:nvSpPr>
        <p:spPr>
          <a:xfrm>
            <a:off x="3264408" y="5413248"/>
            <a:ext cx="137160" cy="137160"/>
          </a:xfrm>
          <a:prstGeom prst="ellipse">
            <a:avLst/>
          </a:prstGeom>
          <a:solidFill>
            <a:srgbClr val="C9D3D1"/>
          </a:solidFill>
          <a:ln w="12700">
            <a:solidFill>
              <a:srgbClr val="C9D3D1"/>
            </a:solidFill>
            <a:prstDash val="solid"/>
          </a:ln>
        </p:spPr>
      </p:sp>
      <p:sp>
        <p:nvSpPr>
          <p:cNvPr id="54" name="ponto 42"/>
          <p:cNvSpPr/>
          <p:nvPr/>
        </p:nvSpPr>
        <p:spPr>
          <a:xfrm>
            <a:off x="3511296" y="5413248"/>
            <a:ext cx="137160" cy="137160"/>
          </a:xfrm>
          <a:prstGeom prst="ellipse">
            <a:avLst/>
          </a:prstGeom>
          <a:solidFill>
            <a:srgbClr val="C9D3D1"/>
          </a:solidFill>
          <a:ln w="12700">
            <a:solidFill>
              <a:srgbClr val="C9D3D1"/>
            </a:solidFill>
            <a:prstDash val="solid"/>
          </a:ln>
        </p:spPr>
      </p:sp>
      <p:sp>
        <p:nvSpPr>
          <p:cNvPr id="55" name="ponto 43"/>
          <p:cNvSpPr/>
          <p:nvPr/>
        </p:nvSpPr>
        <p:spPr>
          <a:xfrm>
            <a:off x="3758184" y="5413248"/>
            <a:ext cx="137160" cy="137160"/>
          </a:xfrm>
          <a:prstGeom prst="ellipse">
            <a:avLst/>
          </a:prstGeom>
          <a:solidFill>
            <a:srgbClr val="C9D3D1"/>
          </a:solidFill>
          <a:ln w="12700">
            <a:solidFill>
              <a:srgbClr val="C9D3D1"/>
            </a:solidFill>
            <a:prstDash val="solid"/>
          </a:ln>
        </p:spPr>
      </p:sp>
      <p:sp>
        <p:nvSpPr>
          <p:cNvPr id="56" name="ponto 44"/>
          <p:cNvSpPr/>
          <p:nvPr/>
        </p:nvSpPr>
        <p:spPr>
          <a:xfrm>
            <a:off x="4005072" y="5413248"/>
            <a:ext cx="137160" cy="137160"/>
          </a:xfrm>
          <a:prstGeom prst="ellipse">
            <a:avLst/>
          </a:prstGeom>
          <a:solidFill>
            <a:srgbClr val="C9D3D1"/>
          </a:solidFill>
          <a:ln w="12700">
            <a:solidFill>
              <a:srgbClr val="C9D3D1"/>
            </a:solidFill>
            <a:prstDash val="solid"/>
          </a:ln>
        </p:spPr>
      </p:sp>
      <p:sp>
        <p:nvSpPr>
          <p:cNvPr id="57" name="ponto 45"/>
          <p:cNvSpPr/>
          <p:nvPr/>
        </p:nvSpPr>
        <p:spPr>
          <a:xfrm>
            <a:off x="4251960" y="5413248"/>
            <a:ext cx="137160" cy="137160"/>
          </a:xfrm>
          <a:prstGeom prst="ellipse">
            <a:avLst/>
          </a:prstGeom>
          <a:solidFill>
            <a:srgbClr val="C9D3D1"/>
          </a:solidFill>
          <a:ln w="12700">
            <a:solidFill>
              <a:srgbClr val="C9D3D1"/>
            </a:solidFill>
            <a:prstDash val="solid"/>
          </a:ln>
        </p:spPr>
      </p:sp>
      <p:sp>
        <p:nvSpPr>
          <p:cNvPr id="58" name="ponto 46"/>
          <p:cNvSpPr/>
          <p:nvPr/>
        </p:nvSpPr>
        <p:spPr>
          <a:xfrm>
            <a:off x="4498848" y="5413248"/>
            <a:ext cx="137160" cy="137160"/>
          </a:xfrm>
          <a:prstGeom prst="ellipse">
            <a:avLst/>
          </a:prstGeom>
          <a:solidFill>
            <a:srgbClr val="C9D3D1"/>
          </a:solidFill>
          <a:ln w="12700">
            <a:solidFill>
              <a:srgbClr val="C9D3D1"/>
            </a:solidFill>
            <a:prstDash val="solid"/>
          </a:ln>
        </p:spPr>
      </p:sp>
      <p:sp>
        <p:nvSpPr>
          <p:cNvPr id="59" name="ponto destaque"/>
          <p:cNvSpPr/>
          <p:nvPr/>
        </p:nvSpPr>
        <p:spPr>
          <a:xfrm>
            <a:off x="4745736" y="5413248"/>
            <a:ext cx="171450" cy="171450"/>
          </a:xfrm>
          <a:prstGeom prst="ellipse">
            <a:avLst/>
          </a:prstGeom>
          <a:solidFill>
            <a:srgbClr val="B0412E"/>
          </a:solidFill>
          <a:ln w="12700">
            <a:solidFill>
              <a:srgbClr val="B0412E"/>
            </a:solidFill>
            <a:prstDash val="solid"/>
          </a:ln>
        </p:spPr>
      </p:sp>
      <p:sp>
        <p:nvSpPr>
          <p:cNvPr id="60" name="ponto 48"/>
          <p:cNvSpPr/>
          <p:nvPr/>
        </p:nvSpPr>
        <p:spPr>
          <a:xfrm>
            <a:off x="4992624" y="5413248"/>
            <a:ext cx="137160" cy="137160"/>
          </a:xfrm>
          <a:prstGeom prst="ellipse">
            <a:avLst/>
          </a:prstGeom>
          <a:solidFill>
            <a:srgbClr val="C9D3D1"/>
          </a:solidFill>
          <a:ln w="12700">
            <a:solidFill>
              <a:srgbClr val="C9D3D1"/>
            </a:solidFill>
            <a:prstDash val="solid"/>
          </a:ln>
        </p:spPr>
      </p:sp>
      <p:sp>
        <p:nvSpPr>
          <p:cNvPr id="61" name="ponto 49"/>
          <p:cNvSpPr/>
          <p:nvPr/>
        </p:nvSpPr>
        <p:spPr>
          <a:xfrm>
            <a:off x="5239512" y="5413248"/>
            <a:ext cx="137160" cy="137160"/>
          </a:xfrm>
          <a:prstGeom prst="ellipse">
            <a:avLst/>
          </a:prstGeom>
          <a:solidFill>
            <a:srgbClr val="C9D3D1"/>
          </a:solidFill>
          <a:ln w="12700">
            <a:solidFill>
              <a:srgbClr val="C9D3D1"/>
            </a:solidFill>
            <a:prstDash val="solid"/>
          </a:ln>
        </p:spPr>
      </p:sp>
      <p:sp>
        <p:nvSpPr>
          <p:cNvPr id="62" name="ponto 50"/>
          <p:cNvSpPr/>
          <p:nvPr/>
        </p:nvSpPr>
        <p:spPr>
          <a:xfrm>
            <a:off x="5486400" y="5413248"/>
            <a:ext cx="137160" cy="137160"/>
          </a:xfrm>
          <a:prstGeom prst="ellipse">
            <a:avLst/>
          </a:prstGeom>
          <a:solidFill>
            <a:srgbClr val="C9D3D1"/>
          </a:solidFill>
          <a:ln w="12700">
            <a:solidFill>
              <a:srgbClr val="C9D3D1"/>
            </a:solidFill>
            <a:prstDash val="solid"/>
          </a:ln>
        </p:spPr>
      </p:sp>
      <p:sp>
        <p:nvSpPr>
          <p:cNvPr id="63" name="ponto 51"/>
          <p:cNvSpPr/>
          <p:nvPr/>
        </p:nvSpPr>
        <p:spPr>
          <a:xfrm>
            <a:off x="5733288" y="5413248"/>
            <a:ext cx="137160" cy="137160"/>
          </a:xfrm>
          <a:prstGeom prst="ellipse">
            <a:avLst/>
          </a:prstGeom>
          <a:solidFill>
            <a:srgbClr val="C9D3D1"/>
          </a:solidFill>
          <a:ln w="12700">
            <a:solidFill>
              <a:srgbClr val="C9D3D1"/>
            </a:solidFill>
            <a:prstDash val="solid"/>
          </a:ln>
        </p:spPr>
      </p:sp>
      <p:sp>
        <p:nvSpPr>
          <p:cNvPr id="64" name="ponto 52"/>
          <p:cNvSpPr/>
          <p:nvPr/>
        </p:nvSpPr>
        <p:spPr>
          <a:xfrm>
            <a:off x="5980176" y="5413248"/>
            <a:ext cx="137160" cy="137160"/>
          </a:xfrm>
          <a:prstGeom prst="ellipse">
            <a:avLst/>
          </a:prstGeom>
          <a:solidFill>
            <a:srgbClr val="C9D3D1"/>
          </a:solidFill>
          <a:ln w="12700">
            <a:solidFill>
              <a:srgbClr val="C9D3D1"/>
            </a:solidFill>
            <a:prstDash val="solid"/>
          </a:ln>
        </p:spPr>
      </p:sp>
      <p:sp>
        <p:nvSpPr>
          <p:cNvPr id="65" name="ponto 53"/>
          <p:cNvSpPr/>
          <p:nvPr/>
        </p:nvSpPr>
        <p:spPr>
          <a:xfrm>
            <a:off x="6227064" y="5413248"/>
            <a:ext cx="137160" cy="137160"/>
          </a:xfrm>
          <a:prstGeom prst="ellipse">
            <a:avLst/>
          </a:prstGeom>
          <a:solidFill>
            <a:srgbClr val="C9D3D1"/>
          </a:solidFill>
          <a:ln w="12700">
            <a:solidFill>
              <a:srgbClr val="C9D3D1"/>
            </a:solidFill>
            <a:prstDash val="solid"/>
          </a:ln>
        </p:spPr>
      </p:sp>
      <p:sp>
        <p:nvSpPr>
          <p:cNvPr id="66" name="ponto 54"/>
          <p:cNvSpPr/>
          <p:nvPr/>
        </p:nvSpPr>
        <p:spPr>
          <a:xfrm>
            <a:off x="6473952" y="5413248"/>
            <a:ext cx="137160" cy="137160"/>
          </a:xfrm>
          <a:prstGeom prst="ellipse">
            <a:avLst/>
          </a:prstGeom>
          <a:solidFill>
            <a:srgbClr val="C9D3D1"/>
          </a:solidFill>
          <a:ln w="12700">
            <a:solidFill>
              <a:srgbClr val="C9D3D1"/>
            </a:solidFill>
            <a:prstDash val="solid"/>
          </a:ln>
        </p:spPr>
      </p:sp>
      <p:sp>
        <p:nvSpPr>
          <p:cNvPr id="67" name="ponto 55"/>
          <p:cNvSpPr/>
          <p:nvPr/>
        </p:nvSpPr>
        <p:spPr>
          <a:xfrm>
            <a:off x="6720840" y="5413248"/>
            <a:ext cx="137160" cy="137160"/>
          </a:xfrm>
          <a:prstGeom prst="ellipse">
            <a:avLst/>
          </a:prstGeom>
          <a:solidFill>
            <a:srgbClr val="C9D3D1"/>
          </a:solidFill>
          <a:ln w="12700">
            <a:solidFill>
              <a:srgbClr val="C9D3D1"/>
            </a:solidFill>
            <a:prstDash val="solid"/>
          </a:ln>
        </p:spPr>
      </p:sp>
      <p:sp>
        <p:nvSpPr>
          <p:cNvPr id="68" name="ponto 56"/>
          <p:cNvSpPr/>
          <p:nvPr/>
        </p:nvSpPr>
        <p:spPr>
          <a:xfrm>
            <a:off x="6967728" y="5413248"/>
            <a:ext cx="137160" cy="137160"/>
          </a:xfrm>
          <a:prstGeom prst="ellipse">
            <a:avLst/>
          </a:prstGeom>
          <a:solidFill>
            <a:srgbClr val="C9D3D1"/>
          </a:solidFill>
          <a:ln w="12700">
            <a:solidFill>
              <a:srgbClr val="C9D3D1"/>
            </a:solidFill>
            <a:prstDash val="solid"/>
          </a:ln>
        </p:spPr>
      </p:sp>
      <p:sp>
        <p:nvSpPr>
          <p:cNvPr id="69" name="ponto 57"/>
          <p:cNvSpPr/>
          <p:nvPr/>
        </p:nvSpPr>
        <p:spPr>
          <a:xfrm>
            <a:off x="7214616" y="5413248"/>
            <a:ext cx="137160" cy="137160"/>
          </a:xfrm>
          <a:prstGeom prst="ellipse">
            <a:avLst/>
          </a:prstGeom>
          <a:solidFill>
            <a:srgbClr val="C9D3D1"/>
          </a:solidFill>
          <a:ln w="12700">
            <a:solidFill>
              <a:srgbClr val="C9D3D1"/>
            </a:solidFill>
            <a:prstDash val="solid"/>
          </a:ln>
        </p:spPr>
      </p:sp>
      <p:sp>
        <p:nvSpPr>
          <p:cNvPr id="70" name="ponto 58"/>
          <p:cNvSpPr/>
          <p:nvPr/>
        </p:nvSpPr>
        <p:spPr>
          <a:xfrm>
            <a:off x="7461504" y="5413248"/>
            <a:ext cx="137160" cy="137160"/>
          </a:xfrm>
          <a:prstGeom prst="ellipse">
            <a:avLst/>
          </a:prstGeom>
          <a:solidFill>
            <a:srgbClr val="C9D3D1"/>
          </a:solidFill>
          <a:ln w="12700">
            <a:solidFill>
              <a:srgbClr val="C9D3D1"/>
            </a:solidFill>
            <a:prstDash val="solid"/>
          </a:ln>
        </p:spPr>
      </p:sp>
      <p:sp>
        <p:nvSpPr>
          <p:cNvPr id="71" name="ponto 59"/>
          <p:cNvSpPr/>
          <p:nvPr/>
        </p:nvSpPr>
        <p:spPr>
          <a:xfrm>
            <a:off x="7708392" y="5413248"/>
            <a:ext cx="137160" cy="137160"/>
          </a:xfrm>
          <a:prstGeom prst="ellipse">
            <a:avLst/>
          </a:prstGeom>
          <a:solidFill>
            <a:srgbClr val="C9D3D1"/>
          </a:solidFill>
          <a:ln w="12700">
            <a:solidFill>
              <a:srgbClr val="C9D3D1"/>
            </a:solidFill>
            <a:prstDash val="solid"/>
          </a:ln>
        </p:spPr>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02 · OS DADOS</a:t>
            </a: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Duas fontes de dados e uma regra clara de risco</a:t>
            </a:r>
            <a:endParaRPr lang="en-US" sz="3200" dirty="0"/>
          </a:p>
        </p:txBody>
      </p:sp>
      <p:sp>
        <p:nvSpPr>
          <p:cNvPr id="4" name="card fonte 1"/>
          <p:cNvSpPr/>
          <p:nvPr/>
        </p:nvSpPr>
        <p:spPr>
          <a:xfrm>
            <a:off x="548640" y="1783080"/>
            <a:ext cx="3520440" cy="2148840"/>
          </a:xfrm>
          <a:prstGeom prst="roundRect">
            <a:avLst>
              <a:gd name="adj" fmla="val 3404"/>
            </a:avLst>
          </a:prstGeom>
          <a:solidFill>
            <a:srgbClr val="EEF4F3"/>
          </a:solidFill>
          <a:ln w="12700">
            <a:solidFill>
              <a:srgbClr val="EEF4F3"/>
            </a:solidFill>
            <a:prstDash val="solid"/>
          </a:ln>
        </p:spPr>
      </p:sp>
      <p:pic>
        <p:nvPicPr>
          <p:cNvPr id="5" name="Image 0" descr="solicitantes no cadastro">    </p:cNvPr>
          <p:cNvPicPr>
            <a:picLocks noChangeAspect="1"/>
          </p:cNvPicPr>
          <p:nvPr/>
        </p:nvPicPr>
        <p:blipFill>
          <a:blip r:embed="rId1"/>
          <a:stretch>
            <a:fillRect/>
          </a:stretch>
        </p:blipFill>
        <p:spPr>
          <a:xfrm>
            <a:off x="777240" y="2011680"/>
            <a:ext cx="457200" cy="457200"/>
          </a:xfrm>
          <a:prstGeom prst="rect">
            <a:avLst/>
          </a:prstGeom>
        </p:spPr>
      </p:pic>
      <p:sp>
        <p:nvSpPr>
          <p:cNvPr id="6" name="fonte 1"/>
          <p:cNvSpPr txBox="1"/>
          <p:nvPr/>
        </p:nvSpPr>
        <p:spPr>
          <a:xfrm>
            <a:off x="777240" y="2560320"/>
            <a:ext cx="3108960" cy="1280160"/>
          </a:xfrm>
          <a:prstGeom prst="rect">
            <a:avLst/>
          </a:prstGeom>
          <a:noFill/>
          <a:ln/>
        </p:spPr>
        <p:txBody>
          <a:bodyPr wrap="square" lIns="0" tIns="0" rIns="0" bIns="0" rtlCol="0" anchor="t"/>
          <a:lstStyle/>
          <a:p>
            <a:pPr indent="0" marL="0">
              <a:buNone/>
            </a:pPr>
            <a:r>
              <a:rPr lang="en-US" sz="3200" b="1" dirty="0">
                <a:solidFill>
                  <a:srgbClr val="0F5C57"/>
                </a:solidFill>
                <a:latin typeface="Cambria" pitchFamily="34" charset="0"/>
                <a:ea typeface="Cambria" pitchFamily="34" charset="-122"/>
                <a:cs typeface="Cambria" pitchFamily="34" charset="-120"/>
              </a:rPr>
              <a:t>438 mil</a:t>
            </a:r>
            <a:endParaRPr lang="en-US" sz="3200" dirty="0"/>
          </a:p>
          <a:p>
            <a:pPr indent="0" marL="0">
              <a:buNone/>
            </a:pPr>
            <a:r>
              <a:rPr lang="en-US" sz="1500" b="1" dirty="0">
                <a:solidFill>
                  <a:srgbClr val="1C2230"/>
                </a:solidFill>
              </a:rPr>
              <a:t>solicitantes no cadastro</a:t>
            </a:r>
            <a:endParaRPr lang="en-US" sz="3200" dirty="0"/>
          </a:p>
          <a:p>
            <a:pPr indent="0" marL="0">
              <a:buNone/>
            </a:pPr>
            <a:r>
              <a:rPr lang="en-US" sz="1300" dirty="0">
                <a:solidFill>
                  <a:srgbClr val="5B6272"/>
                </a:solidFill>
              </a:rPr>
              <a:t>renda, idade, emprego, família, moradia</a:t>
            </a:r>
            <a:endParaRPr lang="en-US" sz="3200" dirty="0"/>
          </a:p>
        </p:txBody>
      </p:sp>
      <p:sp>
        <p:nvSpPr>
          <p:cNvPr id="7" name="card fonte 2"/>
          <p:cNvSpPr/>
          <p:nvPr/>
        </p:nvSpPr>
        <p:spPr>
          <a:xfrm>
            <a:off x="4297680" y="1783080"/>
            <a:ext cx="3520440" cy="2148840"/>
          </a:xfrm>
          <a:prstGeom prst="roundRect">
            <a:avLst>
              <a:gd name="adj" fmla="val 3404"/>
            </a:avLst>
          </a:prstGeom>
          <a:solidFill>
            <a:srgbClr val="EEF4F3"/>
          </a:solidFill>
          <a:ln w="12700">
            <a:solidFill>
              <a:srgbClr val="EEF4F3"/>
            </a:solidFill>
            <a:prstDash val="solid"/>
          </a:ln>
        </p:spPr>
      </p:sp>
      <p:pic>
        <p:nvPicPr>
          <p:cNvPr id="8" name="Image 1" descr="registros mensais de pagamento">    </p:cNvPr>
          <p:cNvPicPr>
            <a:picLocks noChangeAspect="1"/>
          </p:cNvPicPr>
          <p:nvPr/>
        </p:nvPicPr>
        <p:blipFill>
          <a:blip r:embed="rId2"/>
          <a:stretch>
            <a:fillRect/>
          </a:stretch>
        </p:blipFill>
        <p:spPr>
          <a:xfrm>
            <a:off x="4526280" y="2011680"/>
            <a:ext cx="457200" cy="457200"/>
          </a:xfrm>
          <a:prstGeom prst="rect">
            <a:avLst/>
          </a:prstGeom>
        </p:spPr>
      </p:pic>
      <p:sp>
        <p:nvSpPr>
          <p:cNvPr id="9" name="fonte 2"/>
          <p:cNvSpPr txBox="1"/>
          <p:nvPr/>
        </p:nvSpPr>
        <p:spPr>
          <a:xfrm>
            <a:off x="4526280" y="2560320"/>
            <a:ext cx="3108960" cy="1280160"/>
          </a:xfrm>
          <a:prstGeom prst="rect">
            <a:avLst/>
          </a:prstGeom>
          <a:noFill/>
          <a:ln/>
        </p:spPr>
        <p:txBody>
          <a:bodyPr wrap="square" lIns="0" tIns="0" rIns="0" bIns="0" rtlCol="0" anchor="t"/>
          <a:lstStyle/>
          <a:p>
            <a:pPr indent="0" marL="0">
              <a:buNone/>
            </a:pPr>
            <a:r>
              <a:rPr lang="en-US" sz="3200" b="1" dirty="0">
                <a:solidFill>
                  <a:srgbClr val="0F5C57"/>
                </a:solidFill>
                <a:latin typeface="Cambria" pitchFamily="34" charset="0"/>
                <a:ea typeface="Cambria" pitchFamily="34" charset="-122"/>
                <a:cs typeface="Cambria" pitchFamily="34" charset="-120"/>
              </a:rPr>
              <a:t>1,05 milhão</a:t>
            </a:r>
            <a:endParaRPr lang="en-US" sz="3200" dirty="0"/>
          </a:p>
          <a:p>
            <a:pPr indent="0" marL="0">
              <a:buNone/>
            </a:pPr>
            <a:r>
              <a:rPr lang="en-US" sz="1500" b="1" dirty="0">
                <a:solidFill>
                  <a:srgbClr val="1C2230"/>
                </a:solidFill>
              </a:rPr>
              <a:t>registros mensais de pagamento</a:t>
            </a:r>
            <a:endParaRPr lang="en-US" sz="3200" dirty="0"/>
          </a:p>
          <a:p>
            <a:pPr indent="0" marL="0">
              <a:buNone/>
            </a:pPr>
            <a:r>
              <a:rPr lang="en-US" sz="1300" dirty="0">
                <a:solidFill>
                  <a:srgbClr val="5B6272"/>
                </a:solidFill>
              </a:rPr>
              <a:t>até 5 anos de histórico por cliente</a:t>
            </a:r>
            <a:endParaRPr lang="en-US" sz="3200" dirty="0"/>
          </a:p>
        </p:txBody>
      </p:sp>
      <p:sp>
        <p:nvSpPr>
          <p:cNvPr id="10" name="card fonte 3"/>
          <p:cNvSpPr/>
          <p:nvPr/>
        </p:nvSpPr>
        <p:spPr>
          <a:xfrm>
            <a:off x="8046720" y="1783080"/>
            <a:ext cx="3520440" cy="2148840"/>
          </a:xfrm>
          <a:prstGeom prst="roundRect">
            <a:avLst>
              <a:gd name="adj" fmla="val 3404"/>
            </a:avLst>
          </a:prstGeom>
          <a:solidFill>
            <a:srgbClr val="EEF4F3"/>
          </a:solidFill>
          <a:ln w="12700">
            <a:solidFill>
              <a:srgbClr val="EEF4F3"/>
            </a:solidFill>
            <a:prstDash val="solid"/>
          </a:ln>
        </p:spPr>
      </p:sp>
      <p:pic>
        <p:nvPicPr>
          <p:cNvPr id="11" name="Image 2" descr="clientes nas duas fontes">    </p:cNvPr>
          <p:cNvPicPr>
            <a:picLocks noChangeAspect="1"/>
          </p:cNvPicPr>
          <p:nvPr/>
        </p:nvPicPr>
        <p:blipFill>
          <a:blip r:embed="rId3"/>
          <a:stretch>
            <a:fillRect/>
          </a:stretch>
        </p:blipFill>
        <p:spPr>
          <a:xfrm>
            <a:off x="8275320" y="2011680"/>
            <a:ext cx="457200" cy="457200"/>
          </a:xfrm>
          <a:prstGeom prst="rect">
            <a:avLst/>
          </a:prstGeom>
        </p:spPr>
      </p:pic>
      <p:sp>
        <p:nvSpPr>
          <p:cNvPr id="12" name="fonte 3"/>
          <p:cNvSpPr txBox="1"/>
          <p:nvPr/>
        </p:nvSpPr>
        <p:spPr>
          <a:xfrm>
            <a:off x="8275320" y="2560320"/>
            <a:ext cx="3108960" cy="1280160"/>
          </a:xfrm>
          <a:prstGeom prst="rect">
            <a:avLst/>
          </a:prstGeom>
          <a:noFill/>
          <a:ln/>
        </p:spPr>
        <p:txBody>
          <a:bodyPr wrap="square" lIns="0" tIns="0" rIns="0" bIns="0" rtlCol="0" anchor="t"/>
          <a:lstStyle/>
          <a:p>
            <a:pPr indent="0" marL="0">
              <a:buNone/>
            </a:pPr>
            <a:r>
              <a:rPr lang="en-US" sz="3200" b="1" dirty="0">
                <a:solidFill>
                  <a:srgbClr val="0F5C57"/>
                </a:solidFill>
                <a:latin typeface="Cambria" pitchFamily="34" charset="0"/>
                <a:ea typeface="Cambria" pitchFamily="34" charset="-122"/>
                <a:cs typeface="Cambria" pitchFamily="34" charset="-120"/>
              </a:rPr>
              <a:t>36.457</a:t>
            </a:r>
            <a:endParaRPr lang="en-US" sz="3200" dirty="0"/>
          </a:p>
          <a:p>
            <a:pPr indent="0" marL="0">
              <a:buNone/>
            </a:pPr>
            <a:r>
              <a:rPr lang="en-US" sz="1500" b="1" dirty="0">
                <a:solidFill>
                  <a:srgbClr val="1C2230"/>
                </a:solidFill>
              </a:rPr>
              <a:t>clientes nas duas fontes</a:t>
            </a:r>
            <a:endParaRPr lang="en-US" sz="3200" dirty="0"/>
          </a:p>
          <a:p>
            <a:pPr indent="0" marL="0">
              <a:buNone/>
            </a:pPr>
            <a:r>
              <a:rPr lang="en-US" sz="1300" dirty="0">
                <a:solidFill>
                  <a:srgbClr val="5B6272"/>
                </a:solidFill>
              </a:rPr>
              <a:t>que são, na verdade, 9.728 pessoas</a:t>
            </a:r>
            <a:endParaRPr lang="en-US" sz="3200" dirty="0"/>
          </a:p>
        </p:txBody>
      </p:sp>
      <p:sp>
        <p:nvSpPr>
          <p:cNvPr id="13" name="titulo escala"/>
          <p:cNvSpPr txBox="1"/>
          <p:nvPr/>
        </p:nvSpPr>
        <p:spPr>
          <a:xfrm>
            <a:off x="548640" y="4206240"/>
            <a:ext cx="10972800" cy="365760"/>
          </a:xfrm>
          <a:prstGeom prst="rect">
            <a:avLst/>
          </a:prstGeom>
          <a:noFill/>
          <a:ln/>
        </p:spPr>
        <p:txBody>
          <a:bodyPr wrap="square" lIns="0" tIns="0" rIns="0" bIns="0" rtlCol="0" anchor="ctr"/>
          <a:lstStyle/>
          <a:p>
            <a:pPr indent="0" marL="0">
              <a:buNone/>
            </a:pPr>
            <a:r>
              <a:rPr lang="en-US" sz="1600" b="1" dirty="0">
                <a:solidFill>
                  <a:srgbClr val="1C2230"/>
                </a:solidFill>
              </a:rPr>
              <a:t>Quem é "mau pagador"? Pior atraso de cada cliente no histórico:</a:t>
            </a:r>
            <a:endParaRPr lang="en-US" sz="1600" dirty="0"/>
          </a:p>
        </p:txBody>
      </p:sp>
      <p:sp>
        <p:nvSpPr>
          <p:cNvPr id="14" name="escala 0"/>
          <p:cNvSpPr/>
          <p:nvPr/>
        </p:nvSpPr>
        <p:spPr>
          <a:xfrm>
            <a:off x="548640" y="4663440"/>
            <a:ext cx="2926080" cy="685800"/>
          </a:xfrm>
          <a:prstGeom prst="roundRect">
            <a:avLst>
              <a:gd name="adj" fmla="val 8000"/>
            </a:avLst>
          </a:prstGeom>
          <a:solidFill>
            <a:srgbClr val="D9E7E5"/>
          </a:solidFill>
          <a:ln w="12700">
            <a:solidFill>
              <a:srgbClr val="D9E7E5"/>
            </a:solidFill>
            <a:prstDash val="solid"/>
          </a:ln>
        </p:spPr>
      </p:sp>
      <p:sp>
        <p:nvSpPr>
          <p:cNvPr id="15" name="texto escala 0"/>
          <p:cNvSpPr txBox="1"/>
          <p:nvPr/>
        </p:nvSpPr>
        <p:spPr>
          <a:xfrm>
            <a:off x="640080" y="4663440"/>
            <a:ext cx="2743200" cy="685800"/>
          </a:xfrm>
          <a:prstGeom prst="rect">
            <a:avLst/>
          </a:prstGeom>
          <a:noFill/>
          <a:ln/>
        </p:spPr>
        <p:txBody>
          <a:bodyPr wrap="square" lIns="0" tIns="0" rIns="0" bIns="0" rtlCol="0" anchor="ctr"/>
          <a:lstStyle/>
          <a:p>
            <a:pPr indent="0" marL="0">
              <a:buNone/>
            </a:pPr>
            <a:r>
              <a:rPr lang="en-US" sz="1400" dirty="0">
                <a:solidFill>
                  <a:srgbClr val="1C2230"/>
                </a:solidFill>
              </a:rPr>
              <a:t>Sem empréstimo ou quitado (X, C)</a:t>
            </a:r>
            <a:endParaRPr lang="en-US" sz="1400" dirty="0"/>
          </a:p>
        </p:txBody>
      </p:sp>
      <p:sp>
        <p:nvSpPr>
          <p:cNvPr id="16" name="escala 1"/>
          <p:cNvSpPr/>
          <p:nvPr/>
        </p:nvSpPr>
        <p:spPr>
          <a:xfrm>
            <a:off x="3566160" y="4663440"/>
            <a:ext cx="2926080" cy="685800"/>
          </a:xfrm>
          <a:prstGeom prst="roundRect">
            <a:avLst>
              <a:gd name="adj" fmla="val 8000"/>
            </a:avLst>
          </a:prstGeom>
          <a:solidFill>
            <a:srgbClr val="D9E7E5"/>
          </a:solidFill>
          <a:ln w="12700">
            <a:solidFill>
              <a:srgbClr val="D9E7E5"/>
            </a:solidFill>
            <a:prstDash val="solid"/>
          </a:ln>
        </p:spPr>
      </p:sp>
      <p:sp>
        <p:nvSpPr>
          <p:cNvPr id="17" name="texto escala 1"/>
          <p:cNvSpPr txBox="1"/>
          <p:nvPr/>
        </p:nvSpPr>
        <p:spPr>
          <a:xfrm>
            <a:off x="3657600" y="4663440"/>
            <a:ext cx="2743200" cy="685800"/>
          </a:xfrm>
          <a:prstGeom prst="rect">
            <a:avLst/>
          </a:prstGeom>
          <a:noFill/>
          <a:ln/>
        </p:spPr>
        <p:txBody>
          <a:bodyPr wrap="square" lIns="0" tIns="0" rIns="0" bIns="0" rtlCol="0" anchor="ctr"/>
          <a:lstStyle/>
          <a:p>
            <a:pPr indent="0" marL="0">
              <a:buNone/>
            </a:pPr>
            <a:r>
              <a:rPr lang="en-US" sz="1400" dirty="0">
                <a:solidFill>
                  <a:srgbClr val="1C2230"/>
                </a:solidFill>
              </a:rPr>
              <a:t>Atraso de 1 a 29 dias (0)</a:t>
            </a:r>
            <a:endParaRPr lang="en-US" sz="1400" dirty="0"/>
          </a:p>
        </p:txBody>
      </p:sp>
      <p:sp>
        <p:nvSpPr>
          <p:cNvPr id="18" name="escala 2"/>
          <p:cNvSpPr/>
          <p:nvPr/>
        </p:nvSpPr>
        <p:spPr>
          <a:xfrm>
            <a:off x="6583680" y="4663440"/>
            <a:ext cx="2103120" cy="685800"/>
          </a:xfrm>
          <a:prstGeom prst="roundRect">
            <a:avLst>
              <a:gd name="adj" fmla="val 8000"/>
            </a:avLst>
          </a:prstGeom>
          <a:solidFill>
            <a:srgbClr val="B7CFCC"/>
          </a:solidFill>
          <a:ln w="12700">
            <a:solidFill>
              <a:srgbClr val="B7CFCC"/>
            </a:solidFill>
            <a:prstDash val="solid"/>
          </a:ln>
        </p:spPr>
      </p:sp>
      <p:sp>
        <p:nvSpPr>
          <p:cNvPr id="19" name="texto escala 2"/>
          <p:cNvSpPr txBox="1"/>
          <p:nvPr/>
        </p:nvSpPr>
        <p:spPr>
          <a:xfrm>
            <a:off x="6675120" y="4663440"/>
            <a:ext cx="1920240" cy="685800"/>
          </a:xfrm>
          <a:prstGeom prst="rect">
            <a:avLst/>
          </a:prstGeom>
          <a:noFill/>
          <a:ln/>
        </p:spPr>
        <p:txBody>
          <a:bodyPr wrap="square" lIns="0" tIns="0" rIns="0" bIns="0" rtlCol="0" anchor="ctr"/>
          <a:lstStyle/>
          <a:p>
            <a:pPr indent="0" marL="0">
              <a:buNone/>
            </a:pPr>
            <a:r>
              <a:rPr lang="en-US" sz="1400" dirty="0">
                <a:solidFill>
                  <a:srgbClr val="1C2230"/>
                </a:solidFill>
              </a:rPr>
              <a:t>30 a 59 dias (1)</a:t>
            </a:r>
            <a:endParaRPr lang="en-US" sz="1400" dirty="0"/>
          </a:p>
        </p:txBody>
      </p:sp>
      <p:sp>
        <p:nvSpPr>
          <p:cNvPr id="20" name="escala 3"/>
          <p:cNvSpPr/>
          <p:nvPr/>
        </p:nvSpPr>
        <p:spPr>
          <a:xfrm>
            <a:off x="8778240" y="4663440"/>
            <a:ext cx="2743200" cy="685800"/>
          </a:xfrm>
          <a:prstGeom prst="roundRect">
            <a:avLst>
              <a:gd name="adj" fmla="val 8000"/>
            </a:avLst>
          </a:prstGeom>
          <a:solidFill>
            <a:srgbClr val="B0412E"/>
          </a:solidFill>
          <a:ln w="12700">
            <a:solidFill>
              <a:srgbClr val="B0412E"/>
            </a:solidFill>
            <a:prstDash val="solid"/>
          </a:ln>
        </p:spPr>
      </p:sp>
      <p:sp>
        <p:nvSpPr>
          <p:cNvPr id="21" name="texto escala 3"/>
          <p:cNvSpPr txBox="1"/>
          <p:nvPr/>
        </p:nvSpPr>
        <p:spPr>
          <a:xfrm>
            <a:off x="8869680" y="4663440"/>
            <a:ext cx="2560320" cy="685800"/>
          </a:xfrm>
          <a:prstGeom prst="rect">
            <a:avLst/>
          </a:prstGeom>
          <a:noFill/>
          <a:ln/>
        </p:spPr>
        <p:txBody>
          <a:bodyPr wrap="square" lIns="0" tIns="0" rIns="0" bIns="0" rtlCol="0" anchor="ctr"/>
          <a:lstStyle/>
          <a:p>
            <a:pPr indent="0" marL="0">
              <a:buNone/>
            </a:pPr>
            <a:r>
              <a:rPr lang="en-US" sz="1400" b="1" dirty="0">
                <a:solidFill>
                  <a:srgbClr val="FFFFFF"/>
                </a:solidFill>
              </a:rPr>
              <a:t>60 dias ou mais (2 a 5)</a:t>
            </a:r>
            <a:endParaRPr lang="en-US" sz="1400" dirty="0"/>
          </a:p>
        </p:txBody>
      </p:sp>
      <p:sp>
        <p:nvSpPr>
          <p:cNvPr id="22" name="regra"/>
          <p:cNvSpPr txBox="1"/>
          <p:nvPr/>
        </p:nvSpPr>
        <p:spPr>
          <a:xfrm>
            <a:off x="548640" y="5532120"/>
            <a:ext cx="11064240" cy="548640"/>
          </a:xfrm>
          <a:prstGeom prst="rect">
            <a:avLst/>
          </a:prstGeom>
          <a:noFill/>
          <a:ln/>
        </p:spPr>
        <p:txBody>
          <a:bodyPr wrap="square" lIns="0" tIns="0" rIns="0" bIns="0" rtlCol="0" anchor="ctr"/>
          <a:lstStyle/>
          <a:p>
            <a:pPr indent="0" marL="0">
              <a:buNone/>
            </a:pPr>
            <a:r>
              <a:rPr lang="en-US" sz="1400" i="1" dirty="0">
                <a:solidFill>
                  <a:srgbClr val="5B6272"/>
                </a:solidFill>
              </a:rPr>
              <a:t>Mau pagador = deixou de pagar duas faturas seguidas. Atrasos curtos são comuns (3 em cada 4 clientes) e não indicam risco real.</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03 · O QUE OS DADOS MOSTRAM</a:t>
            </a: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Não existe um perfil óbvio de mau pagador</a:t>
            </a:r>
            <a:endParaRPr lang="en-US" sz="3200" dirty="0"/>
          </a:p>
        </p:txBody>
      </p:sp>
      <p:graphicFrame>
        <p:nvGraphicFramePr>
          <p:cNvPr id="4" name="grafico perfis" descr=""/>
          <p:cNvGraphicFramePr/>
          <p:nvPr/>
        </p:nvGraphicFramePr>
        <p:xfrm>
          <a:off x="457200" y="169164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5" name="card leitura"/>
          <p:cNvSpPr/>
          <p:nvPr/>
        </p:nvSpPr>
        <p:spPr>
          <a:xfrm>
            <a:off x="7772400" y="1783080"/>
            <a:ext cx="3886200" cy="4343400"/>
          </a:xfrm>
          <a:prstGeom prst="roundRect">
            <a:avLst>
              <a:gd name="adj" fmla="val 1882"/>
            </a:avLst>
          </a:prstGeom>
          <a:solidFill>
            <a:srgbClr val="EEF4F3"/>
          </a:solidFill>
          <a:ln w="12700">
            <a:solidFill>
              <a:srgbClr val="EEF4F3"/>
            </a:solidFill>
            <a:prstDash val="solid"/>
          </a:ln>
        </p:spPr>
      </p:sp>
      <p:sp>
        <p:nvSpPr>
          <p:cNvPr id="6" name="leitura perfis"/>
          <p:cNvSpPr txBox="1"/>
          <p:nvPr/>
        </p:nvSpPr>
        <p:spPr>
          <a:xfrm>
            <a:off x="8046720" y="2057400"/>
            <a:ext cx="3383280" cy="3840480"/>
          </a:xfrm>
          <a:prstGeom prst="rect">
            <a:avLst/>
          </a:prstGeom>
          <a:noFill/>
          <a:ln/>
        </p:spPr>
        <p:txBody>
          <a:bodyPr wrap="square" lIns="0" tIns="0" rIns="0" bIns="0" rtlCol="0" anchor="t"/>
          <a:lstStyle/>
          <a:p>
            <a:pPr indent="0" marL="0">
              <a:buNone/>
            </a:pPr>
            <a:r>
              <a:rPr lang="en-US" sz="3600" b="1" dirty="0">
                <a:solidFill>
                  <a:srgbClr val="0F5C57"/>
                </a:solidFill>
                <a:latin typeface="Cambria" pitchFamily="34" charset="0"/>
                <a:ea typeface="Cambria" pitchFamily="34" charset="-122"/>
                <a:cs typeface="Cambria" pitchFamily="34" charset="-120"/>
              </a:rPr>
              <a:t>1,2% a 2,9%</a:t>
            </a:r>
            <a:endParaRPr lang="en-US" sz="3600" dirty="0"/>
          </a:p>
          <a:p>
            <a:pPr indent="0" marL="0">
              <a:buNone/>
            </a:pPr>
            <a:r>
              <a:rPr lang="en-US" sz="1500" dirty="0">
                <a:solidFill>
                  <a:srgbClr val="1C2230"/>
                </a:solidFill>
              </a:rPr>
              <a:t>é toda a variação entre os perfis. A média geral é 1,7%.</a:t>
            </a:r>
            <a:endParaRPr lang="en-US" sz="3600" dirty="0"/>
          </a:p>
          <a:p>
            <a:pPr indent="0" marL="0">
              <a:buNone/>
            </a:pPr>
            <a:r>
              <a:rPr lang="en-US" sz="1000" dirty="0">
                <a:solidFill>
                  <a:srgbClr val="000000"/>
                </a:solidFill>
              </a:rPr>
              <a:t> </a:t>
            </a:r>
            <a:endParaRPr lang="en-US" sz="3600" dirty="0"/>
          </a:p>
          <a:p>
            <a:pPr indent="0" marL="0">
              <a:buNone/>
            </a:pPr>
            <a:r>
              <a:rPr lang="en-US" sz="1500" dirty="0">
                <a:solidFill>
                  <a:srgbClr val="1C2230"/>
                </a:solidFill>
              </a:rPr>
              <a:t>Nenhuma característica isolada, nem a renda, separa bons de maus pagadores.</a:t>
            </a:r>
            <a:endParaRPr lang="en-US" sz="3600" dirty="0"/>
          </a:p>
          <a:p>
            <a:pPr indent="0" marL="0">
              <a:buNone/>
            </a:pPr>
            <a:r>
              <a:rPr lang="en-US" sz="1000" dirty="0">
                <a:solidFill>
                  <a:srgbClr val="000000"/>
                </a:solidFill>
              </a:rPr>
              <a:t> </a:t>
            </a:r>
            <a:endParaRPr lang="en-US" sz="3600" dirty="0"/>
          </a:p>
          <a:p>
            <a:pPr indent="0" marL="0">
              <a:buNone/>
            </a:pPr>
            <a:r>
              <a:rPr lang="en-US" sz="1500" b="1" dirty="0">
                <a:solidFill>
                  <a:srgbClr val="1C2230"/>
                </a:solidFill>
              </a:rPr>
              <a:t>O sinal está na combinação de várias delas. É isso que um modelo faz bem.</a:t>
            </a:r>
            <a:endParaRPr lang="en-US" sz="3600" dirty="0"/>
          </a:p>
        </p:txBody>
      </p:sp>
      <p:sp>
        <p:nvSpPr>
          <p:cNvPr id="7" name="legenda perfis"/>
          <p:cNvSpPr txBox="1"/>
          <p:nvPr/>
        </p:nvSpPr>
        <p:spPr>
          <a:xfrm>
            <a:off x="548640" y="6053328"/>
            <a:ext cx="5486400" cy="274320"/>
          </a:xfrm>
          <a:prstGeom prst="rect">
            <a:avLst/>
          </a:prstGeom>
          <a:noFill/>
          <a:ln/>
        </p:spPr>
        <p:txBody>
          <a:bodyPr wrap="square" lIns="0" tIns="0" rIns="0" bIns="0" rtlCol="0" anchor="ctr"/>
          <a:lstStyle/>
          <a:p>
            <a:pPr indent="0" marL="0">
              <a:buNone/>
            </a:pPr>
            <a:r>
              <a:rPr lang="en-US" sz="1100" dirty="0">
                <a:solidFill>
                  <a:srgbClr val="B0412E"/>
                </a:solidFill>
              </a:rPr>
              <a:t>■ </a:t>
            </a:r>
            <a:pPr indent="0" marL="0">
              <a:buNone/>
            </a:pPr>
            <a:r>
              <a:rPr lang="en-US" sz="1100" dirty="0">
                <a:solidFill>
                  <a:srgbClr val="5B6272"/>
                </a:solidFill>
              </a:rPr>
              <a:t>acima da média   </a:t>
            </a:r>
            <a:pPr indent="0" marL="0">
              <a:buNone/>
            </a:pPr>
            <a:r>
              <a:rPr lang="en-US" sz="1100" dirty="0">
                <a:solidFill>
                  <a:srgbClr val="0F5C57"/>
                </a:solidFill>
              </a:rPr>
              <a:t>■ </a:t>
            </a:r>
            <a:pPr indent="0" marL="0">
              <a:buNone/>
            </a:pPr>
            <a:r>
              <a:rPr lang="en-US" sz="1100" dirty="0">
                <a:solidFill>
                  <a:srgbClr val="5B6272"/>
                </a:solidFill>
              </a:rPr>
              <a:t>abaixo da média</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04 · CUIDADOS ANTES DE MODELAR</a:t>
            </a: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Quatro armadilhas nos dados, todas tratadas</a:t>
            </a:r>
            <a:endParaRPr lang="en-US" sz="3200" dirty="0"/>
          </a:p>
        </p:txBody>
      </p:sp>
      <p:sp>
        <p:nvSpPr>
          <p:cNvPr id="4" name="card armadilha 1"/>
          <p:cNvSpPr/>
          <p:nvPr/>
        </p:nvSpPr>
        <p:spPr>
          <a:xfrm>
            <a:off x="548640" y="1828800"/>
            <a:ext cx="5440680" cy="1874520"/>
          </a:xfrm>
          <a:prstGeom prst="roundRect">
            <a:avLst>
              <a:gd name="adj" fmla="val 3902"/>
            </a:avLst>
          </a:prstGeom>
          <a:solidFill>
            <a:srgbClr val="EEF4F3"/>
          </a:solidFill>
          <a:ln w="12700">
            <a:solidFill>
              <a:srgbClr val="EEF4F3"/>
            </a:solidFill>
            <a:prstDash val="solid"/>
          </a:ln>
        </p:spPr>
      </p:sp>
      <p:sp>
        <p:nvSpPr>
          <p:cNvPr id="5" name="circulo icone 1"/>
          <p:cNvSpPr/>
          <p:nvPr/>
        </p:nvSpPr>
        <p:spPr>
          <a:xfrm>
            <a:off x="822960" y="2103120"/>
            <a:ext cx="731520" cy="731520"/>
          </a:xfrm>
          <a:prstGeom prst="ellipse">
            <a:avLst/>
          </a:prstGeom>
          <a:solidFill>
            <a:srgbClr val="0F5C57"/>
          </a:solidFill>
          <a:ln w="12700">
            <a:solidFill>
              <a:srgbClr val="0F5C57"/>
            </a:solidFill>
            <a:prstDash val="solid"/>
          </a:ln>
        </p:spPr>
      </p:sp>
      <p:pic>
        <p:nvPicPr>
          <p:cNvPr id="6" name="Image 0" descr="&quot;1.000 anos de emprego&quot;">    </p:cNvPr>
          <p:cNvPicPr>
            <a:picLocks noChangeAspect="1"/>
          </p:cNvPicPr>
          <p:nvPr/>
        </p:nvPicPr>
        <p:blipFill>
          <a:blip r:embed="rId1"/>
          <a:stretch>
            <a:fillRect/>
          </a:stretch>
        </p:blipFill>
        <p:spPr>
          <a:xfrm>
            <a:off x="978408" y="2258568"/>
            <a:ext cx="420624" cy="420624"/>
          </a:xfrm>
          <a:prstGeom prst="rect">
            <a:avLst/>
          </a:prstGeom>
        </p:spPr>
      </p:pic>
      <p:sp>
        <p:nvSpPr>
          <p:cNvPr id="7" name="texto armadilha 1"/>
          <p:cNvSpPr txBox="1"/>
          <p:nvPr/>
        </p:nvSpPr>
        <p:spPr>
          <a:xfrm>
            <a:off x="1783080" y="2057400"/>
            <a:ext cx="3977640" cy="1645920"/>
          </a:xfrm>
          <a:prstGeom prst="rect">
            <a:avLst/>
          </a:prstGeom>
          <a:noFill/>
          <a:ln/>
        </p:spPr>
        <p:txBody>
          <a:bodyPr wrap="square" lIns="0" tIns="0" rIns="0" bIns="0" rtlCol="0" anchor="t"/>
          <a:lstStyle/>
          <a:p>
            <a:pPr indent="0" marL="0">
              <a:spcAft>
                <a:spcPts val="400"/>
              </a:spcAft>
              <a:buNone/>
            </a:pPr>
            <a:r>
              <a:rPr lang="en-US" sz="1800" b="1" dirty="0">
                <a:solidFill>
                  <a:srgbClr val="1C2230"/>
                </a:solidFill>
              </a:rPr>
              <a:t>"1.000 anos de emprego"</a:t>
            </a:r>
            <a:endParaRPr lang="en-US" sz="1800" dirty="0"/>
          </a:p>
          <a:p>
            <a:pPr indent="0" marL="0">
              <a:spcAft>
                <a:spcPts val="400"/>
              </a:spcAft>
              <a:buNone/>
            </a:pPr>
            <a:r>
              <a:rPr lang="en-US" sz="1400" dirty="0">
                <a:solidFill>
                  <a:srgbClr val="1C2230"/>
                </a:solidFill>
              </a:rPr>
              <a:t>17% dos cadastros usam um código especial no tempo de emprego. Virou o indicador "sem vínculo", e não um número.</a:t>
            </a:r>
            <a:endParaRPr lang="en-US" sz="1800" dirty="0"/>
          </a:p>
        </p:txBody>
      </p:sp>
      <p:sp>
        <p:nvSpPr>
          <p:cNvPr id="8" name="card armadilha 2"/>
          <p:cNvSpPr/>
          <p:nvPr/>
        </p:nvSpPr>
        <p:spPr>
          <a:xfrm>
            <a:off x="6172200" y="1828800"/>
            <a:ext cx="5440680" cy="1874520"/>
          </a:xfrm>
          <a:prstGeom prst="roundRect">
            <a:avLst>
              <a:gd name="adj" fmla="val 3902"/>
            </a:avLst>
          </a:prstGeom>
          <a:solidFill>
            <a:srgbClr val="EEF4F3"/>
          </a:solidFill>
          <a:ln w="12700">
            <a:solidFill>
              <a:srgbClr val="EEF4F3"/>
            </a:solidFill>
            <a:prstDash val="solid"/>
          </a:ln>
        </p:spPr>
      </p:sp>
      <p:sp>
        <p:nvSpPr>
          <p:cNvPr id="9" name="circulo icone 2"/>
          <p:cNvSpPr/>
          <p:nvPr/>
        </p:nvSpPr>
        <p:spPr>
          <a:xfrm>
            <a:off x="6446520" y="2103120"/>
            <a:ext cx="731520" cy="731520"/>
          </a:xfrm>
          <a:prstGeom prst="ellipse">
            <a:avLst/>
          </a:prstGeom>
          <a:solidFill>
            <a:srgbClr val="0F5C57"/>
          </a:solidFill>
          <a:ln w="12700">
            <a:solidFill>
              <a:srgbClr val="0F5C57"/>
            </a:solidFill>
            <a:prstDash val="solid"/>
          </a:ln>
        </p:spPr>
      </p:sp>
      <p:pic>
        <p:nvPicPr>
          <p:cNvPr id="10" name="Image 1" descr="Ocupação em branco em 31%">    </p:cNvPr>
          <p:cNvPicPr>
            <a:picLocks noChangeAspect="1"/>
          </p:cNvPicPr>
          <p:nvPr/>
        </p:nvPicPr>
        <p:blipFill>
          <a:blip r:embed="rId2"/>
          <a:stretch>
            <a:fillRect/>
          </a:stretch>
        </p:blipFill>
        <p:spPr>
          <a:xfrm>
            <a:off x="6601968" y="2258568"/>
            <a:ext cx="420624" cy="420624"/>
          </a:xfrm>
          <a:prstGeom prst="rect">
            <a:avLst/>
          </a:prstGeom>
        </p:spPr>
      </p:pic>
      <p:sp>
        <p:nvSpPr>
          <p:cNvPr id="11" name="texto armadilha 2"/>
          <p:cNvSpPr txBox="1"/>
          <p:nvPr/>
        </p:nvSpPr>
        <p:spPr>
          <a:xfrm>
            <a:off x="7406640" y="2057400"/>
            <a:ext cx="3977640" cy="1645920"/>
          </a:xfrm>
          <a:prstGeom prst="rect">
            <a:avLst/>
          </a:prstGeom>
          <a:noFill/>
          <a:ln/>
        </p:spPr>
        <p:txBody>
          <a:bodyPr wrap="square" lIns="0" tIns="0" rIns="0" bIns="0" rtlCol="0" anchor="t"/>
          <a:lstStyle/>
          <a:p>
            <a:pPr indent="0" marL="0">
              <a:spcAft>
                <a:spcPts val="400"/>
              </a:spcAft>
              <a:buNone/>
            </a:pPr>
            <a:r>
              <a:rPr lang="en-US" sz="1800" b="1" dirty="0">
                <a:solidFill>
                  <a:srgbClr val="1C2230"/>
                </a:solidFill>
              </a:rPr>
              <a:t>Ocupação em branco em 31%</a:t>
            </a:r>
            <a:endParaRPr lang="en-US" sz="1800" dirty="0"/>
          </a:p>
          <a:p>
            <a:pPr indent="0" marL="0">
              <a:spcAft>
                <a:spcPts val="400"/>
              </a:spcAft>
              <a:buNone/>
            </a:pPr>
            <a:r>
              <a:rPr lang="en-US" sz="1400" dirty="0">
                <a:solidFill>
                  <a:srgbClr val="1C2230"/>
                </a:solidFill>
              </a:rPr>
              <a:t>A maioria é de aposentados. Virou a categoria "não informado", sem preencher com palpite.</a:t>
            </a:r>
            <a:endParaRPr lang="en-US" sz="1800" dirty="0"/>
          </a:p>
        </p:txBody>
      </p:sp>
      <p:sp>
        <p:nvSpPr>
          <p:cNvPr id="12" name="card armadilha 3"/>
          <p:cNvSpPr/>
          <p:nvPr/>
        </p:nvSpPr>
        <p:spPr>
          <a:xfrm>
            <a:off x="548640" y="3977640"/>
            <a:ext cx="5440680" cy="1874520"/>
          </a:xfrm>
          <a:prstGeom prst="roundRect">
            <a:avLst>
              <a:gd name="adj" fmla="val 3902"/>
            </a:avLst>
          </a:prstGeom>
          <a:solidFill>
            <a:srgbClr val="FBEDEA"/>
          </a:solidFill>
          <a:ln w="12700">
            <a:solidFill>
              <a:srgbClr val="FBEDEA"/>
            </a:solidFill>
            <a:prstDash val="solid"/>
          </a:ln>
        </p:spPr>
      </p:sp>
      <p:sp>
        <p:nvSpPr>
          <p:cNvPr id="13" name="circulo icone 3"/>
          <p:cNvSpPr/>
          <p:nvPr/>
        </p:nvSpPr>
        <p:spPr>
          <a:xfrm>
            <a:off x="822960" y="4251960"/>
            <a:ext cx="731520" cy="731520"/>
          </a:xfrm>
          <a:prstGeom prst="ellipse">
            <a:avLst/>
          </a:prstGeom>
          <a:solidFill>
            <a:srgbClr val="B0412E"/>
          </a:solidFill>
          <a:ln w="12700">
            <a:solidFill>
              <a:srgbClr val="B0412E"/>
            </a:solidFill>
            <a:prstDash val="solid"/>
          </a:ln>
        </p:spPr>
      </p:sp>
      <p:pic>
        <p:nvPicPr>
          <p:cNvPr id="14" name="Image 2" descr="A mesma pessoa com vários IDs">    </p:cNvPr>
          <p:cNvPicPr>
            <a:picLocks noChangeAspect="1"/>
          </p:cNvPicPr>
          <p:nvPr/>
        </p:nvPicPr>
        <p:blipFill>
          <a:blip r:embed="rId3"/>
          <a:stretch>
            <a:fillRect/>
          </a:stretch>
        </p:blipFill>
        <p:spPr>
          <a:xfrm>
            <a:off x="978408" y="4407408"/>
            <a:ext cx="420624" cy="420624"/>
          </a:xfrm>
          <a:prstGeom prst="rect">
            <a:avLst/>
          </a:prstGeom>
        </p:spPr>
      </p:pic>
      <p:sp>
        <p:nvSpPr>
          <p:cNvPr id="15" name="texto armadilha 3"/>
          <p:cNvSpPr txBox="1"/>
          <p:nvPr/>
        </p:nvSpPr>
        <p:spPr>
          <a:xfrm>
            <a:off x="1783080" y="4206240"/>
            <a:ext cx="3977640" cy="1645920"/>
          </a:xfrm>
          <a:prstGeom prst="rect">
            <a:avLst/>
          </a:prstGeom>
          <a:noFill/>
          <a:ln/>
        </p:spPr>
        <p:txBody>
          <a:bodyPr wrap="square" lIns="0" tIns="0" rIns="0" bIns="0" rtlCol="0" anchor="t"/>
          <a:lstStyle/>
          <a:p>
            <a:pPr indent="0" marL="0">
              <a:spcAft>
                <a:spcPts val="400"/>
              </a:spcAft>
              <a:buNone/>
            </a:pPr>
            <a:r>
              <a:rPr lang="en-US" sz="1800" b="1" dirty="0">
                <a:solidFill>
                  <a:srgbClr val="1C2230"/>
                </a:solidFill>
              </a:rPr>
              <a:t>A mesma pessoa com vários IDs</a:t>
            </a:r>
            <a:endParaRPr lang="en-US" sz="1800" dirty="0"/>
          </a:p>
          <a:p>
            <a:pPr indent="0" marL="0">
              <a:spcAft>
                <a:spcPts val="400"/>
              </a:spcAft>
              <a:buNone/>
            </a:pPr>
            <a:r>
              <a:rPr lang="en-US" sz="1400" dirty="0">
                <a:solidFill>
                  <a:srgbClr val="1C2230"/>
                </a:solidFill>
              </a:rPr>
              <a:t>36.457 contas são de só 9.728 pessoas. Treino e teste foram separados por pessoa: o modelo é testado em quem nunca viu.</a:t>
            </a:r>
            <a:endParaRPr lang="en-US" sz="1800" dirty="0"/>
          </a:p>
        </p:txBody>
      </p:sp>
      <p:sp>
        <p:nvSpPr>
          <p:cNvPr id="16" name="card armadilha 4"/>
          <p:cNvSpPr/>
          <p:nvPr/>
        </p:nvSpPr>
        <p:spPr>
          <a:xfrm>
            <a:off x="6172200" y="3977640"/>
            <a:ext cx="5440680" cy="1874520"/>
          </a:xfrm>
          <a:prstGeom prst="roundRect">
            <a:avLst>
              <a:gd name="adj" fmla="val 3902"/>
            </a:avLst>
          </a:prstGeom>
          <a:solidFill>
            <a:srgbClr val="FBEDEA"/>
          </a:solidFill>
          <a:ln w="12700">
            <a:solidFill>
              <a:srgbClr val="FBEDEA"/>
            </a:solidFill>
            <a:prstDash val="solid"/>
          </a:ln>
        </p:spPr>
      </p:sp>
      <p:sp>
        <p:nvSpPr>
          <p:cNvPr id="17" name="circulo icone 4"/>
          <p:cNvSpPr/>
          <p:nvPr/>
        </p:nvSpPr>
        <p:spPr>
          <a:xfrm>
            <a:off x="6446520" y="4251960"/>
            <a:ext cx="731520" cy="731520"/>
          </a:xfrm>
          <a:prstGeom prst="ellipse">
            <a:avLst/>
          </a:prstGeom>
          <a:solidFill>
            <a:srgbClr val="B0412E"/>
          </a:solidFill>
          <a:ln w="12700">
            <a:solidFill>
              <a:srgbClr val="B0412E"/>
            </a:solidFill>
            <a:prstDash val="solid"/>
          </a:ln>
        </p:spPr>
      </p:sp>
      <p:pic>
        <p:nvPicPr>
          <p:cNvPr id="18" name="Image 3" descr="A &quot;resposta disfarçada&quot;">    </p:cNvPr>
          <p:cNvPicPr>
            <a:picLocks noChangeAspect="1"/>
          </p:cNvPicPr>
          <p:nvPr/>
        </p:nvPicPr>
        <p:blipFill>
          <a:blip r:embed="rId4"/>
          <a:stretch>
            <a:fillRect/>
          </a:stretch>
        </p:blipFill>
        <p:spPr>
          <a:xfrm>
            <a:off x="6601968" y="4407408"/>
            <a:ext cx="420624" cy="420624"/>
          </a:xfrm>
          <a:prstGeom prst="rect">
            <a:avLst/>
          </a:prstGeom>
        </p:spPr>
      </p:pic>
      <p:sp>
        <p:nvSpPr>
          <p:cNvPr id="19" name="texto armadilha 4"/>
          <p:cNvSpPr txBox="1"/>
          <p:nvPr/>
        </p:nvSpPr>
        <p:spPr>
          <a:xfrm>
            <a:off x="7406640" y="4206240"/>
            <a:ext cx="3977640" cy="1645920"/>
          </a:xfrm>
          <a:prstGeom prst="rect">
            <a:avLst/>
          </a:prstGeom>
          <a:noFill/>
          <a:ln/>
        </p:spPr>
        <p:txBody>
          <a:bodyPr wrap="square" lIns="0" tIns="0" rIns="0" bIns="0" rtlCol="0" anchor="t"/>
          <a:lstStyle/>
          <a:p>
            <a:pPr indent="0" marL="0">
              <a:spcAft>
                <a:spcPts val="400"/>
              </a:spcAft>
              <a:buNone/>
            </a:pPr>
            <a:r>
              <a:rPr lang="en-US" sz="1800" b="1" dirty="0">
                <a:solidFill>
                  <a:srgbClr val="1C2230"/>
                </a:solidFill>
              </a:rPr>
              <a:t>A "resposta disfarçada"</a:t>
            </a:r>
            <a:endParaRPr lang="en-US" sz="1800" dirty="0"/>
          </a:p>
          <a:p>
            <a:pPr indent="0" marL="0">
              <a:spcAft>
                <a:spcPts val="400"/>
              </a:spcAft>
              <a:buNone/>
            </a:pPr>
            <a:r>
              <a:rPr lang="en-US" sz="1400" dirty="0">
                <a:solidFill>
                  <a:srgbClr val="1C2230"/>
                </a:solidFill>
              </a:rPr>
              <a:t>Uma variável repetia a própria definição de mau pagador e dava um falso acerto de 100%. Foi encontrada e removida.</a:t>
            </a:r>
            <a:endParaRPr lang="en-US" sz="18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05 · A SOLUÇÃO</a:t>
            </a: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XGBoost foi o melhor de quatro modelos</a:t>
            </a:r>
            <a:endParaRPr lang="en-US" sz="3200" dirty="0"/>
          </a:p>
        </p:txBody>
      </p:sp>
      <p:graphicFrame>
        <p:nvGraphicFramePr>
          <p:cNvPr id="4" name="grafico modelos" descr=""/>
          <p:cNvGraphicFramePr/>
          <p:nvPr/>
        </p:nvGraphicFramePr>
        <p:xfrm>
          <a:off x="457200" y="169164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5" name="explica nota"/>
          <p:cNvSpPr txBox="1"/>
          <p:nvPr/>
        </p:nvSpPr>
        <p:spPr>
          <a:xfrm>
            <a:off x="548640" y="5806440"/>
            <a:ext cx="6766560" cy="502920"/>
          </a:xfrm>
          <a:prstGeom prst="rect">
            <a:avLst/>
          </a:prstGeom>
          <a:noFill/>
          <a:ln/>
        </p:spPr>
        <p:txBody>
          <a:bodyPr wrap="square" lIns="0" tIns="0" rIns="0" bIns="0" rtlCol="0" anchor="ctr"/>
          <a:lstStyle/>
          <a:p>
            <a:pPr indent="0" marL="0">
              <a:buNone/>
            </a:pPr>
            <a:r>
              <a:rPr lang="en-US" sz="1200" i="1" dirty="0">
                <a:solidFill>
                  <a:srgbClr val="5B6272"/>
                </a:solidFill>
              </a:rPr>
              <a:t>Nota de 0,5 (sorteio) a 1,0 (perfeito) para pôr os maus pagadores no topo da lista (ROC-AUC), medida em pessoas que o modelo nunca viu</a:t>
            </a:r>
            <a:endParaRPr lang="en-US" sz="1200" dirty="0"/>
          </a:p>
        </p:txBody>
      </p:sp>
      <p:sp>
        <p:nvSpPr>
          <p:cNvPr id="6" name="card resultado 1"/>
          <p:cNvSpPr/>
          <p:nvPr/>
        </p:nvSpPr>
        <p:spPr>
          <a:xfrm>
            <a:off x="7772400" y="1783080"/>
            <a:ext cx="3886200" cy="1280160"/>
          </a:xfrm>
          <a:prstGeom prst="roundRect">
            <a:avLst>
              <a:gd name="adj" fmla="val 5714"/>
            </a:avLst>
          </a:prstGeom>
          <a:solidFill>
            <a:srgbClr val="0B3D3A"/>
          </a:solidFill>
          <a:ln w="12700">
            <a:solidFill>
              <a:srgbClr val="0B3D3A"/>
            </a:solidFill>
            <a:prstDash val="solid"/>
          </a:ln>
        </p:spPr>
      </p:sp>
      <p:sp>
        <p:nvSpPr>
          <p:cNvPr id="7" name="resultado 1"/>
          <p:cNvSpPr txBox="1"/>
          <p:nvPr/>
        </p:nvSpPr>
        <p:spPr>
          <a:xfrm>
            <a:off x="8001000" y="1892808"/>
            <a:ext cx="3520440" cy="1097280"/>
          </a:xfrm>
          <a:prstGeom prst="rect">
            <a:avLst/>
          </a:prstGeom>
          <a:noFill/>
          <a:ln/>
        </p:spPr>
        <p:txBody>
          <a:bodyPr wrap="square" lIns="0" tIns="0" rIns="0" bIns="0" rtlCol="0" anchor="t"/>
          <a:lstStyle/>
          <a:p>
            <a:pPr indent="0" marL="0">
              <a:buNone/>
            </a:pPr>
            <a:r>
              <a:rPr lang="en-US" sz="2800" b="1" dirty="0">
                <a:solidFill>
                  <a:srgbClr val="E9B44C"/>
                </a:solidFill>
                <a:latin typeface="Cambria" pitchFamily="34" charset="0"/>
                <a:ea typeface="Cambria" pitchFamily="34" charset="-122"/>
                <a:cs typeface="Cambria" pitchFamily="34" charset="-120"/>
              </a:rPr>
              <a:t>0,80</a:t>
            </a:r>
            <a:endParaRPr lang="en-US" sz="2800" dirty="0"/>
          </a:p>
          <a:p>
            <a:pPr indent="0" marL="0">
              <a:buNone/>
            </a:pPr>
            <a:r>
              <a:rPr lang="en-US" sz="1400" dirty="0">
                <a:solidFill>
                  <a:srgbClr val="FFFFFF"/>
                </a:solidFill>
              </a:rPr>
              <a:t>nota em clientes novos (faixa provável de 0,76 a 0,83)</a:t>
            </a:r>
            <a:endParaRPr lang="en-US" sz="2800" dirty="0"/>
          </a:p>
        </p:txBody>
      </p:sp>
      <p:sp>
        <p:nvSpPr>
          <p:cNvPr id="8" name="card resultado 2"/>
          <p:cNvSpPr/>
          <p:nvPr/>
        </p:nvSpPr>
        <p:spPr>
          <a:xfrm>
            <a:off x="7772400" y="3246120"/>
            <a:ext cx="3886200" cy="1280160"/>
          </a:xfrm>
          <a:prstGeom prst="roundRect">
            <a:avLst>
              <a:gd name="adj" fmla="val 5714"/>
            </a:avLst>
          </a:prstGeom>
          <a:solidFill>
            <a:srgbClr val="EEF4F3"/>
          </a:solidFill>
          <a:ln w="12700">
            <a:solidFill>
              <a:srgbClr val="EEF4F3"/>
            </a:solidFill>
            <a:prstDash val="solid"/>
          </a:ln>
        </p:spPr>
      </p:sp>
      <p:sp>
        <p:nvSpPr>
          <p:cNvPr id="9" name="resultado 2"/>
          <p:cNvSpPr txBox="1"/>
          <p:nvPr/>
        </p:nvSpPr>
        <p:spPr>
          <a:xfrm>
            <a:off x="8001000" y="3355848"/>
            <a:ext cx="3520440" cy="1097280"/>
          </a:xfrm>
          <a:prstGeom prst="rect">
            <a:avLst/>
          </a:prstGeom>
          <a:noFill/>
          <a:ln/>
        </p:spPr>
        <p:txBody>
          <a:bodyPr wrap="square" lIns="0" tIns="0" rIns="0" bIns="0" rtlCol="0" anchor="t"/>
          <a:lstStyle/>
          <a:p>
            <a:pPr indent="0" marL="0">
              <a:buNone/>
            </a:pPr>
            <a:r>
              <a:rPr lang="en-US" sz="2800" b="1" dirty="0">
                <a:solidFill>
                  <a:srgbClr val="0F5C57"/>
                </a:solidFill>
                <a:latin typeface="Cambria" pitchFamily="34" charset="0"/>
                <a:ea typeface="Cambria" pitchFamily="34" charset="-122"/>
                <a:cs typeface="Cambria" pitchFamily="34" charset="-120"/>
              </a:rPr>
              <a:t>0,80 ± 0,03</a:t>
            </a:r>
            <a:endParaRPr lang="en-US" sz="2800" dirty="0"/>
          </a:p>
          <a:p>
            <a:pPr indent="0" marL="0">
              <a:buNone/>
            </a:pPr>
            <a:r>
              <a:rPr lang="en-US" sz="1400" dirty="0">
                <a:solidFill>
                  <a:srgbClr val="1C2230"/>
                </a:solidFill>
              </a:rPr>
              <a:t>na validação cruzada: estável, não "decorou" os dados</a:t>
            </a:r>
            <a:endParaRPr lang="en-US" sz="2800" dirty="0"/>
          </a:p>
        </p:txBody>
      </p:sp>
      <p:sp>
        <p:nvSpPr>
          <p:cNvPr id="10" name="card resultado 3"/>
          <p:cNvSpPr/>
          <p:nvPr/>
        </p:nvSpPr>
        <p:spPr>
          <a:xfrm>
            <a:off x="7772400" y="4709160"/>
            <a:ext cx="3886200" cy="1280160"/>
          </a:xfrm>
          <a:prstGeom prst="roundRect">
            <a:avLst>
              <a:gd name="adj" fmla="val 5714"/>
            </a:avLst>
          </a:prstGeom>
          <a:solidFill>
            <a:srgbClr val="EEF4F3"/>
          </a:solidFill>
          <a:ln w="12700">
            <a:solidFill>
              <a:srgbClr val="EEF4F3"/>
            </a:solidFill>
            <a:prstDash val="solid"/>
          </a:ln>
        </p:spPr>
      </p:sp>
      <p:sp>
        <p:nvSpPr>
          <p:cNvPr id="11" name="resultado 3"/>
          <p:cNvSpPr txBox="1"/>
          <p:nvPr/>
        </p:nvSpPr>
        <p:spPr>
          <a:xfrm>
            <a:off x="8001000" y="4818888"/>
            <a:ext cx="3520440" cy="1097280"/>
          </a:xfrm>
          <a:prstGeom prst="rect">
            <a:avLst/>
          </a:prstGeom>
          <a:noFill/>
          <a:ln/>
        </p:spPr>
        <p:txBody>
          <a:bodyPr wrap="square" lIns="0" tIns="0" rIns="0" bIns="0" rtlCol="0" anchor="t"/>
          <a:lstStyle/>
          <a:p>
            <a:pPr indent="0" marL="0">
              <a:buNone/>
            </a:pPr>
            <a:r>
              <a:rPr lang="en-US" sz="2800" b="1" dirty="0">
                <a:solidFill>
                  <a:srgbClr val="0F5C57"/>
                </a:solidFill>
                <a:latin typeface="Cambria" pitchFamily="34" charset="0"/>
                <a:ea typeface="Cambria" pitchFamily="34" charset="-122"/>
                <a:cs typeface="Cambria" pitchFamily="34" charset="-120"/>
              </a:rPr>
              <a:t>0,79</a:t>
            </a:r>
            <a:endParaRPr lang="en-US" sz="2800" dirty="0"/>
          </a:p>
          <a:p>
            <a:pPr indent="0" marL="0">
              <a:buNone/>
            </a:pPr>
            <a:r>
              <a:rPr lang="en-US" sz="1400" dirty="0">
                <a:solidFill>
                  <a:srgbClr val="1C2230"/>
                </a:solidFill>
              </a:rPr>
              <a:t>Regressão Logística: empate técnico, mais simples de explicar</a:t>
            </a:r>
            <a:endParaRPr lang="en-US" sz="28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06 · O RESULTADO NA PRÁTICA</a:t>
            </a: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Revisar 20% dos pedidos acha 64% dos maus pagadores</a:t>
            </a:r>
            <a:endParaRPr lang="en-US" sz="3200" dirty="0"/>
          </a:p>
        </p:txBody>
      </p:sp>
      <p:graphicFrame>
        <p:nvGraphicFramePr>
          <p:cNvPr id="4" name="grafico captura" descr=""/>
          <p:cNvGraphicFramePr/>
          <p:nvPr/>
        </p:nvGraphicFramePr>
        <p:xfrm>
          <a:off x="457200" y="169164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5" name="eixo captura"/>
          <p:cNvSpPr txBox="1"/>
          <p:nvPr/>
        </p:nvSpPr>
        <p:spPr>
          <a:xfrm>
            <a:off x="548640" y="5897880"/>
            <a:ext cx="7223760" cy="365760"/>
          </a:xfrm>
          <a:prstGeom prst="rect">
            <a:avLst/>
          </a:prstGeom>
          <a:noFill/>
          <a:ln/>
        </p:spPr>
        <p:txBody>
          <a:bodyPr wrap="square" lIns="0" tIns="0" rIns="0" bIns="0" rtlCol="0" anchor="ctr"/>
          <a:lstStyle/>
          <a:p>
            <a:pPr indent="0" marL="0">
              <a:buNone/>
            </a:pPr>
            <a:r>
              <a:rPr lang="en-US" sz="1200" i="1" dirty="0">
                <a:solidFill>
                  <a:srgbClr val="5B6272"/>
                </a:solidFill>
              </a:rPr>
              <a:t>Fatia de pedidos revisados, dos mais arriscados para os menos · % dos maus pagadores encontrados</a:t>
            </a:r>
            <a:endParaRPr lang="en-US" sz="1200" dirty="0"/>
          </a:p>
        </p:txBody>
      </p:sp>
      <p:sp>
        <p:nvSpPr>
          <p:cNvPr id="6" name="card captura"/>
          <p:cNvSpPr/>
          <p:nvPr/>
        </p:nvSpPr>
        <p:spPr>
          <a:xfrm>
            <a:off x="8138160" y="1783080"/>
            <a:ext cx="3520440" cy="4343400"/>
          </a:xfrm>
          <a:prstGeom prst="roundRect">
            <a:avLst>
              <a:gd name="adj" fmla="val 2078"/>
            </a:avLst>
          </a:prstGeom>
          <a:solidFill>
            <a:srgbClr val="0B3D3A"/>
          </a:solidFill>
          <a:ln w="12700">
            <a:solidFill>
              <a:srgbClr val="0B3D3A"/>
            </a:solidFill>
            <a:prstDash val="solid"/>
          </a:ln>
        </p:spPr>
      </p:sp>
      <p:sp>
        <p:nvSpPr>
          <p:cNvPr id="7" name="destaque captura"/>
          <p:cNvSpPr txBox="1"/>
          <p:nvPr/>
        </p:nvSpPr>
        <p:spPr>
          <a:xfrm>
            <a:off x="8412480" y="2057400"/>
            <a:ext cx="3017520" cy="3840480"/>
          </a:xfrm>
          <a:prstGeom prst="rect">
            <a:avLst/>
          </a:prstGeom>
          <a:noFill/>
          <a:ln/>
        </p:spPr>
        <p:txBody>
          <a:bodyPr wrap="square" lIns="0" tIns="0" rIns="0" bIns="0" rtlCol="0" anchor="t"/>
          <a:lstStyle/>
          <a:p>
            <a:pPr indent="0" marL="0">
              <a:buNone/>
            </a:pPr>
            <a:r>
              <a:rPr lang="en-US" sz="6600" b="1" dirty="0">
                <a:solidFill>
                  <a:srgbClr val="E9B44C"/>
                </a:solidFill>
                <a:latin typeface="Cambria" pitchFamily="34" charset="0"/>
                <a:ea typeface="Cambria" pitchFamily="34" charset="-122"/>
                <a:cs typeface="Cambria" pitchFamily="34" charset="-120"/>
              </a:rPr>
              <a:t>3,2×</a:t>
            </a:r>
            <a:endParaRPr lang="en-US" sz="6600" dirty="0"/>
          </a:p>
          <a:p>
            <a:pPr indent="0" marL="0">
              <a:buNone/>
            </a:pPr>
            <a:r>
              <a:rPr lang="en-US" sz="1600" dirty="0">
                <a:solidFill>
                  <a:srgbClr val="FFFFFF"/>
                </a:solidFill>
              </a:rPr>
              <a:t>mais maus pagadores encontrados que por sorteio, com o mesmo esforço</a:t>
            </a:r>
            <a:endParaRPr lang="en-US" sz="6600" dirty="0"/>
          </a:p>
          <a:p>
            <a:pPr indent="0" marL="0">
              <a:buNone/>
            </a:pPr>
            <a:r>
              <a:rPr lang="en-US" sz="1200" dirty="0">
                <a:solidFill>
                  <a:srgbClr val="000000"/>
                </a:solidFill>
              </a:rPr>
              <a:t> </a:t>
            </a:r>
            <a:endParaRPr lang="en-US" sz="6600" dirty="0"/>
          </a:p>
          <a:p>
            <a:pPr indent="0" marL="0">
              <a:buNone/>
            </a:pPr>
            <a:r>
              <a:rPr lang="en-US" sz="1500" dirty="0">
                <a:solidFill>
                  <a:srgbClr val="D9E7E5"/>
                </a:solidFill>
              </a:rPr>
              <a:t>Com só 10% dos pedidos, já encontra 40%: quatro vezes o acaso.</a:t>
            </a:r>
            <a:endParaRPr lang="en-US" sz="6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07 · O QUE MAIS PESA NA PREVISÃO</a:t>
            </a: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 histórico com o banco pesa mais que o cadastro</a:t>
            </a:r>
            <a:endParaRPr lang="en-US" sz="3200" dirty="0"/>
          </a:p>
        </p:txBody>
      </p:sp>
      <p:graphicFrame>
        <p:nvGraphicFramePr>
          <p:cNvPr id="4" name="grafico importancia" descr=""/>
          <p:cNvGraphicFramePr/>
          <p:nvPr/>
        </p:nvGraphicFramePr>
        <p:xfrm>
          <a:off x="457200" y="169164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legenda importancia"/>
          <p:cNvSpPr txBox="1"/>
          <p:nvPr/>
        </p:nvSpPr>
        <p:spPr>
          <a:xfrm>
            <a:off x="548640" y="5897880"/>
            <a:ext cx="6858000" cy="320040"/>
          </a:xfrm>
          <a:prstGeom prst="rect">
            <a:avLst/>
          </a:prstGeom>
          <a:noFill/>
          <a:ln/>
        </p:spPr>
        <p:txBody>
          <a:bodyPr wrap="square" lIns="0" tIns="0" rIns="0" bIns="0" rtlCol="0" anchor="ctr"/>
          <a:lstStyle/>
          <a:p>
            <a:pPr indent="0" marL="0">
              <a:buNone/>
            </a:pPr>
            <a:r>
              <a:rPr lang="en-US" sz="1200" dirty="0">
                <a:solidFill>
                  <a:srgbClr val="0F5C57"/>
                </a:solidFill>
              </a:rPr>
              <a:t>■ </a:t>
            </a:r>
            <a:pPr indent="0" marL="0">
              <a:buNone/>
            </a:pPr>
            <a:r>
              <a:rPr lang="en-US" sz="1200" dirty="0">
                <a:solidFill>
                  <a:srgbClr val="5B6272"/>
                </a:solidFill>
              </a:rPr>
              <a:t>histórico com o banco   </a:t>
            </a:r>
            <a:pPr indent="0" marL="0">
              <a:buNone/>
            </a:pPr>
            <a:r>
              <a:rPr lang="en-US" sz="1200" dirty="0">
                <a:solidFill>
                  <a:srgbClr val="B9BFC9"/>
                </a:solidFill>
              </a:rPr>
              <a:t>■ </a:t>
            </a:r>
            <a:pPr indent="0" marL="0">
              <a:buNone/>
            </a:pPr>
            <a:r>
              <a:rPr lang="en-US" sz="1200" dirty="0">
                <a:solidFill>
                  <a:srgbClr val="5B6272"/>
                </a:solidFill>
              </a:rPr>
              <a:t>cadastro   ·   peso relativo (o mais importante = 100)</a:t>
            </a:r>
            <a:endParaRPr lang="en-US" sz="1200" dirty="0"/>
          </a:p>
        </p:txBody>
      </p:sp>
      <p:sp>
        <p:nvSpPr>
          <p:cNvPr id="6" name="circulo leitura 1"/>
          <p:cNvSpPr/>
          <p:nvPr/>
        </p:nvSpPr>
        <p:spPr>
          <a:xfrm>
            <a:off x="7772400" y="1783080"/>
            <a:ext cx="566928" cy="566928"/>
          </a:xfrm>
          <a:prstGeom prst="ellipse">
            <a:avLst/>
          </a:prstGeom>
          <a:solidFill>
            <a:srgbClr val="D9E7E5"/>
          </a:solidFill>
          <a:ln w="12700">
            <a:solidFill>
              <a:srgbClr val="D9E7E5"/>
            </a:solidFill>
            <a:prstDash val="solid"/>
          </a:ln>
        </p:spPr>
      </p:sp>
      <p:pic>
        <p:nvPicPr>
          <p:cNvPr id="7" name="Image 0" descr="icone">    </p:cNvPr>
          <p:cNvPicPr>
            <a:picLocks noChangeAspect="1"/>
          </p:cNvPicPr>
          <p:nvPr/>
        </p:nvPicPr>
        <p:blipFill>
          <a:blip r:embed="rId2"/>
          <a:stretch>
            <a:fillRect/>
          </a:stretch>
        </p:blipFill>
        <p:spPr>
          <a:xfrm>
            <a:off x="7900416" y="1911096"/>
            <a:ext cx="310896" cy="310896"/>
          </a:xfrm>
          <a:prstGeom prst="rect">
            <a:avLst/>
          </a:prstGeom>
        </p:spPr>
      </p:pic>
      <p:sp>
        <p:nvSpPr>
          <p:cNvPr id="8" name="leitura 1"/>
          <p:cNvSpPr txBox="1"/>
          <p:nvPr/>
        </p:nvSpPr>
        <p:spPr>
          <a:xfrm>
            <a:off x="8503920" y="1737360"/>
            <a:ext cx="3154680" cy="914400"/>
          </a:xfrm>
          <a:prstGeom prst="rect">
            <a:avLst/>
          </a:prstGeom>
          <a:noFill/>
          <a:ln/>
        </p:spPr>
        <p:txBody>
          <a:bodyPr wrap="square" lIns="0" tIns="0" rIns="0" bIns="0" rtlCol="0" anchor="t"/>
          <a:lstStyle/>
          <a:p>
            <a:pPr indent="0" marL="0">
              <a:buNone/>
            </a:pPr>
            <a:r>
              <a:rPr lang="en-US" sz="1400" dirty="0">
                <a:solidFill>
                  <a:srgbClr val="1C2230"/>
                </a:solidFill>
              </a:rPr>
              <a:t>Meses quitando o saldo e uso moderado do crédito indicam menor risco</a:t>
            </a:r>
            <a:endParaRPr lang="en-US" sz="1400" dirty="0"/>
          </a:p>
        </p:txBody>
      </p:sp>
      <p:sp>
        <p:nvSpPr>
          <p:cNvPr id="9" name="circulo leitura 2"/>
          <p:cNvSpPr/>
          <p:nvPr/>
        </p:nvSpPr>
        <p:spPr>
          <a:xfrm>
            <a:off x="7772400" y="2862072"/>
            <a:ext cx="566928" cy="566928"/>
          </a:xfrm>
          <a:prstGeom prst="ellipse">
            <a:avLst/>
          </a:prstGeom>
          <a:solidFill>
            <a:srgbClr val="D9E7E5"/>
          </a:solidFill>
          <a:ln w="12700">
            <a:solidFill>
              <a:srgbClr val="D9E7E5"/>
            </a:solidFill>
            <a:prstDash val="solid"/>
          </a:ln>
        </p:spPr>
      </p:sp>
      <p:pic>
        <p:nvPicPr>
          <p:cNvPr id="10" name="Image 1" descr="icone">    </p:cNvPr>
          <p:cNvPicPr>
            <a:picLocks noChangeAspect="1"/>
          </p:cNvPicPr>
          <p:nvPr/>
        </p:nvPicPr>
        <p:blipFill>
          <a:blip r:embed="rId3"/>
          <a:stretch>
            <a:fillRect/>
          </a:stretch>
        </p:blipFill>
        <p:spPr>
          <a:xfrm>
            <a:off x="7900416" y="2990088"/>
            <a:ext cx="310896" cy="310896"/>
          </a:xfrm>
          <a:prstGeom prst="rect">
            <a:avLst/>
          </a:prstGeom>
        </p:spPr>
      </p:pic>
      <p:sp>
        <p:nvSpPr>
          <p:cNvPr id="11" name="leitura 2"/>
          <p:cNvSpPr txBox="1"/>
          <p:nvPr/>
        </p:nvSpPr>
        <p:spPr>
          <a:xfrm>
            <a:off x="8503920" y="2816352"/>
            <a:ext cx="3154680" cy="914400"/>
          </a:xfrm>
          <a:prstGeom prst="rect">
            <a:avLst/>
          </a:prstGeom>
          <a:noFill/>
          <a:ln/>
        </p:spPr>
        <p:txBody>
          <a:bodyPr wrap="square" lIns="0" tIns="0" rIns="0" bIns="0" rtlCol="0" anchor="t"/>
          <a:lstStyle/>
          <a:p>
            <a:pPr indent="0" marL="0">
              <a:buNone/>
            </a:pPr>
            <a:r>
              <a:rPr lang="en-US" sz="1400" dirty="0">
                <a:solidFill>
                  <a:srgbClr val="1C2230"/>
                </a:solidFill>
              </a:rPr>
              <a:t>Mais tempo de histórico eleva o risco estimado: há mais meses em que um atraso pode acontecer</a:t>
            </a:r>
            <a:endParaRPr lang="en-US" sz="1400" dirty="0"/>
          </a:p>
        </p:txBody>
      </p:sp>
      <p:sp>
        <p:nvSpPr>
          <p:cNvPr id="12" name="circulo leitura 3"/>
          <p:cNvSpPr/>
          <p:nvPr/>
        </p:nvSpPr>
        <p:spPr>
          <a:xfrm>
            <a:off x="7772400" y="3941064"/>
            <a:ext cx="566928" cy="566928"/>
          </a:xfrm>
          <a:prstGeom prst="ellipse">
            <a:avLst/>
          </a:prstGeom>
          <a:solidFill>
            <a:srgbClr val="D9E7E5"/>
          </a:solidFill>
          <a:ln w="12700">
            <a:solidFill>
              <a:srgbClr val="D9E7E5"/>
            </a:solidFill>
            <a:prstDash val="solid"/>
          </a:ln>
        </p:spPr>
      </p:sp>
      <p:pic>
        <p:nvPicPr>
          <p:cNvPr id="13" name="Image 2" descr="icone">    </p:cNvPr>
          <p:cNvPicPr>
            <a:picLocks noChangeAspect="1"/>
          </p:cNvPicPr>
          <p:nvPr/>
        </p:nvPicPr>
        <p:blipFill>
          <a:blip r:embed="rId4"/>
          <a:stretch>
            <a:fillRect/>
          </a:stretch>
        </p:blipFill>
        <p:spPr>
          <a:xfrm>
            <a:off x="7900416" y="4069080"/>
            <a:ext cx="310896" cy="310896"/>
          </a:xfrm>
          <a:prstGeom prst="rect">
            <a:avLst/>
          </a:prstGeom>
        </p:spPr>
      </p:pic>
      <p:sp>
        <p:nvSpPr>
          <p:cNvPr id="14" name="leitura 3"/>
          <p:cNvSpPr txBox="1"/>
          <p:nvPr/>
        </p:nvSpPr>
        <p:spPr>
          <a:xfrm>
            <a:off x="8503920" y="3895344"/>
            <a:ext cx="3154680" cy="914400"/>
          </a:xfrm>
          <a:prstGeom prst="rect">
            <a:avLst/>
          </a:prstGeom>
          <a:noFill/>
          <a:ln/>
        </p:spPr>
        <p:txBody>
          <a:bodyPr wrap="square" lIns="0" tIns="0" rIns="0" bIns="0" rtlCol="0" anchor="t"/>
          <a:lstStyle/>
          <a:p>
            <a:pPr indent="0" marL="0">
              <a:buNone/>
            </a:pPr>
            <a:r>
              <a:rPr lang="en-US" sz="1400" dirty="0">
                <a:solidFill>
                  <a:srgbClr val="1C2230"/>
                </a:solidFill>
              </a:rPr>
              <a:t>No cadastro, emprego e renda maiores indicam menor risco, mas pesam pouco</a:t>
            </a:r>
            <a:endParaRPr lang="en-US" sz="1400" dirty="0"/>
          </a:p>
        </p:txBody>
      </p:sp>
      <p:sp>
        <p:nvSpPr>
          <p:cNvPr id="15" name="circulo leitura 4"/>
          <p:cNvSpPr/>
          <p:nvPr/>
        </p:nvSpPr>
        <p:spPr>
          <a:xfrm>
            <a:off x="7772400" y="5020056"/>
            <a:ext cx="566928" cy="566928"/>
          </a:xfrm>
          <a:prstGeom prst="ellipse">
            <a:avLst/>
          </a:prstGeom>
          <a:solidFill>
            <a:srgbClr val="D9E7E5"/>
          </a:solidFill>
          <a:ln w="12700">
            <a:solidFill>
              <a:srgbClr val="D9E7E5"/>
            </a:solidFill>
            <a:prstDash val="solid"/>
          </a:ln>
        </p:spPr>
      </p:sp>
      <p:pic>
        <p:nvPicPr>
          <p:cNvPr id="16" name="Image 3" descr="icone">    </p:cNvPr>
          <p:cNvPicPr>
            <a:picLocks noChangeAspect="1"/>
          </p:cNvPicPr>
          <p:nvPr/>
        </p:nvPicPr>
        <p:blipFill>
          <a:blip r:embed="rId5"/>
          <a:stretch>
            <a:fillRect/>
          </a:stretch>
        </p:blipFill>
        <p:spPr>
          <a:xfrm>
            <a:off x="7900416" y="5148072"/>
            <a:ext cx="310896" cy="310896"/>
          </a:xfrm>
          <a:prstGeom prst="rect">
            <a:avLst/>
          </a:prstGeom>
        </p:spPr>
      </p:pic>
      <p:sp>
        <p:nvSpPr>
          <p:cNvPr id="17" name="leitura 4"/>
          <p:cNvSpPr txBox="1"/>
          <p:nvPr/>
        </p:nvSpPr>
        <p:spPr>
          <a:xfrm>
            <a:off x="8503920" y="4974336"/>
            <a:ext cx="3154680" cy="914400"/>
          </a:xfrm>
          <a:prstGeom prst="rect">
            <a:avLst/>
          </a:prstGeom>
          <a:noFill/>
          <a:ln/>
        </p:spPr>
        <p:txBody>
          <a:bodyPr wrap="square" lIns="0" tIns="0" rIns="0" bIns="0" rtlCol="0" anchor="t"/>
          <a:lstStyle/>
          <a:p>
            <a:pPr indent="0" marL="0">
              <a:buNone/>
            </a:pPr>
            <a:r>
              <a:rPr lang="en-US" sz="1400" dirty="0">
                <a:solidFill>
                  <a:srgbClr val="1C2230"/>
                </a:solidFill>
              </a:rPr>
              <a:t>Dois métodos de explicação diferentes chegaram à mesma ordem</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08 · LIMITES QUE PRECISAM SER RESPEITADOS</a:t>
            </a:r>
            <a:endParaRPr lang="en-US" sz="1200" dirty="0"/>
          </a:p>
        </p:txBody>
      </p:sp>
      <p:sp>
        <p:nvSpPr>
          <p:cNvPr id="3" name="Text 0"/>
          <p:cNvSpPr/>
          <p:nvPr>
            <p:ph idx="101" type="title" hasCustomPrompt="1"/>
          </p:nvPr>
        </p:nvSpPr>
        <p:spPr>
          <a:xfrm>
            <a:off x="548640" y="713232"/>
            <a:ext cx="11064240"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Uma ferramenta de priorização, não um juiz automático</a:t>
            </a:r>
            <a:endParaRPr lang="en-US" sz="3200" dirty="0"/>
          </a:p>
        </p:txBody>
      </p:sp>
      <p:sp>
        <p:nvSpPr>
          <p:cNvPr id="4" name="card limite 1"/>
          <p:cNvSpPr/>
          <p:nvPr/>
        </p:nvSpPr>
        <p:spPr>
          <a:xfrm>
            <a:off x="548640" y="1828800"/>
            <a:ext cx="3520440" cy="2743200"/>
          </a:xfrm>
          <a:prstGeom prst="roundRect">
            <a:avLst>
              <a:gd name="adj" fmla="val 2667"/>
            </a:avLst>
          </a:prstGeom>
          <a:solidFill>
            <a:srgbClr val="EEF4F3"/>
          </a:solidFill>
          <a:ln w="12700">
            <a:solidFill>
              <a:srgbClr val="EEF4F3"/>
            </a:solidFill>
            <a:prstDash val="solid"/>
          </a:ln>
        </p:spPr>
      </p:sp>
      <p:sp>
        <p:nvSpPr>
          <p:cNvPr id="5" name="limite 1"/>
          <p:cNvSpPr txBox="1"/>
          <p:nvPr/>
        </p:nvSpPr>
        <p:spPr>
          <a:xfrm>
            <a:off x="822960" y="2057400"/>
            <a:ext cx="2971800" cy="2377440"/>
          </a:xfrm>
          <a:prstGeom prst="rect">
            <a:avLst/>
          </a:prstGeom>
          <a:noFill/>
          <a:ln/>
        </p:spPr>
        <p:txBody>
          <a:bodyPr wrap="square" lIns="0" tIns="0" rIns="0" bIns="0" rtlCol="0" anchor="t"/>
          <a:lstStyle/>
          <a:p>
            <a:pPr indent="0" marL="0">
              <a:buNone/>
            </a:pPr>
            <a:r>
              <a:rPr lang="en-US" sz="4000" b="1" dirty="0">
                <a:solidFill>
                  <a:srgbClr val="B0412E"/>
                </a:solidFill>
                <a:latin typeface="Cambria" pitchFamily="34" charset="0"/>
                <a:ea typeface="Cambria" pitchFamily="34" charset="-122"/>
                <a:cs typeface="Cambria" pitchFamily="34" charset="-120"/>
              </a:rPr>
              <a:t>17 : 1</a:t>
            </a:r>
            <a:endParaRPr lang="en-US" sz="4000" dirty="0"/>
          </a:p>
          <a:p>
            <a:pPr indent="0" marL="0">
              <a:buNone/>
            </a:pPr>
            <a:r>
              <a:rPr lang="en-US" sz="1000" dirty="0">
                <a:solidFill>
                  <a:srgbClr val="000000"/>
                </a:solidFill>
              </a:rPr>
              <a:t> </a:t>
            </a:r>
            <a:endParaRPr lang="en-US" sz="4000" dirty="0"/>
          </a:p>
          <a:p>
            <a:pPr indent="0" marL="0">
              <a:buNone/>
            </a:pPr>
            <a:r>
              <a:rPr lang="en-US" sz="1600" dirty="0">
                <a:solidFill>
                  <a:srgbClr val="1C2230"/>
                </a:solidFill>
              </a:rPr>
              <a:t>Se recusasse sozinho, o modelo negaria cerca de 17 bons pagadores para cada mau pagador evitado. A decisão final deve ser humana.</a:t>
            </a:r>
            <a:endParaRPr lang="en-US" sz="4000" dirty="0"/>
          </a:p>
        </p:txBody>
      </p:sp>
      <p:sp>
        <p:nvSpPr>
          <p:cNvPr id="6" name="card limite 2"/>
          <p:cNvSpPr/>
          <p:nvPr/>
        </p:nvSpPr>
        <p:spPr>
          <a:xfrm>
            <a:off x="4297680" y="1828800"/>
            <a:ext cx="3520440" cy="2743200"/>
          </a:xfrm>
          <a:prstGeom prst="roundRect">
            <a:avLst>
              <a:gd name="adj" fmla="val 2667"/>
            </a:avLst>
          </a:prstGeom>
          <a:solidFill>
            <a:srgbClr val="EEF4F3"/>
          </a:solidFill>
          <a:ln w="12700">
            <a:solidFill>
              <a:srgbClr val="EEF4F3"/>
            </a:solidFill>
            <a:prstDash val="solid"/>
          </a:ln>
        </p:spPr>
      </p:sp>
      <p:sp>
        <p:nvSpPr>
          <p:cNvPr id="7" name="limite 2"/>
          <p:cNvSpPr txBox="1"/>
          <p:nvPr/>
        </p:nvSpPr>
        <p:spPr>
          <a:xfrm>
            <a:off x="4572000" y="2057400"/>
            <a:ext cx="2971800" cy="2377440"/>
          </a:xfrm>
          <a:prstGeom prst="rect">
            <a:avLst/>
          </a:prstGeom>
          <a:noFill/>
          <a:ln/>
        </p:spPr>
        <p:txBody>
          <a:bodyPr wrap="square" lIns="0" tIns="0" rIns="0" bIns="0" rtlCol="0" anchor="t"/>
          <a:lstStyle/>
          <a:p>
            <a:pPr indent="0" marL="0">
              <a:buNone/>
            </a:pPr>
            <a:r>
              <a:rPr lang="en-US" sz="4000" b="1" dirty="0">
                <a:solidFill>
                  <a:srgbClr val="B0412E"/>
                </a:solidFill>
                <a:latin typeface="Cambria" pitchFamily="34" charset="0"/>
                <a:ea typeface="Cambria" pitchFamily="34" charset="-122"/>
                <a:cs typeface="Cambria" pitchFamily="34" charset="-120"/>
              </a:rPr>
              <a:t>0,80 → 0,59</a:t>
            </a:r>
            <a:endParaRPr lang="en-US" sz="4000" dirty="0"/>
          </a:p>
          <a:p>
            <a:pPr indent="0" marL="0">
              <a:buNone/>
            </a:pPr>
            <a:r>
              <a:rPr lang="en-US" sz="1000" dirty="0">
                <a:solidFill>
                  <a:srgbClr val="000000"/>
                </a:solidFill>
              </a:rPr>
              <a:t> </a:t>
            </a:r>
            <a:endParaRPr lang="en-US" sz="4000" dirty="0"/>
          </a:p>
          <a:p>
            <a:pPr indent="0" marL="0">
              <a:buNone/>
            </a:pPr>
            <a:r>
              <a:rPr lang="en-US" sz="1600" dirty="0">
                <a:solidFill>
                  <a:srgbClr val="1C2230"/>
                </a:solidFill>
              </a:rPr>
              <a:t>Só com o cadastro, a nota cai para perto do sorteio. O modelo serve para quem já é cliente; para quem chega agora, usar birôs de crédito.</a:t>
            </a:r>
            <a:endParaRPr lang="en-US" sz="4000" dirty="0"/>
          </a:p>
        </p:txBody>
      </p:sp>
      <p:sp>
        <p:nvSpPr>
          <p:cNvPr id="8" name="card limite 3"/>
          <p:cNvSpPr/>
          <p:nvPr/>
        </p:nvSpPr>
        <p:spPr>
          <a:xfrm>
            <a:off x="8046720" y="1828800"/>
            <a:ext cx="3520440" cy="2743200"/>
          </a:xfrm>
          <a:prstGeom prst="roundRect">
            <a:avLst>
              <a:gd name="adj" fmla="val 2667"/>
            </a:avLst>
          </a:prstGeom>
          <a:solidFill>
            <a:srgbClr val="EEF4F3"/>
          </a:solidFill>
          <a:ln w="12700">
            <a:solidFill>
              <a:srgbClr val="EEF4F3"/>
            </a:solidFill>
            <a:prstDash val="solid"/>
          </a:ln>
        </p:spPr>
      </p:sp>
      <p:sp>
        <p:nvSpPr>
          <p:cNvPr id="9" name="limite 3"/>
          <p:cNvSpPr txBox="1"/>
          <p:nvPr/>
        </p:nvSpPr>
        <p:spPr>
          <a:xfrm>
            <a:off x="8321040" y="2057400"/>
            <a:ext cx="2971800" cy="2377440"/>
          </a:xfrm>
          <a:prstGeom prst="rect">
            <a:avLst/>
          </a:prstGeom>
          <a:noFill/>
          <a:ln/>
        </p:spPr>
        <p:txBody>
          <a:bodyPr wrap="square" lIns="0" tIns="0" rIns="0" bIns="0" rtlCol="0" anchor="t"/>
          <a:lstStyle/>
          <a:p>
            <a:pPr indent="0" marL="0">
              <a:buNone/>
            </a:pPr>
            <a:r>
              <a:rPr lang="en-US" sz="4000" b="1" dirty="0">
                <a:solidFill>
                  <a:srgbClr val="0F5C57"/>
                </a:solidFill>
                <a:latin typeface="Cambria" pitchFamily="34" charset="0"/>
                <a:ea typeface="Cambria" pitchFamily="34" charset="-122"/>
                <a:cs typeface="Cambria" pitchFamily="34" charset="-120"/>
              </a:rPr>
              <a:t>Equidade</a:t>
            </a:r>
            <a:endParaRPr lang="en-US" sz="4000" dirty="0"/>
          </a:p>
          <a:p>
            <a:pPr indent="0" marL="0">
              <a:buNone/>
            </a:pPr>
            <a:r>
              <a:rPr lang="en-US" sz="1000" dirty="0">
                <a:solidFill>
                  <a:srgbClr val="000000"/>
                </a:solidFill>
              </a:rPr>
              <a:t> </a:t>
            </a:r>
            <a:endParaRPr lang="en-US" sz="4000" dirty="0"/>
          </a:p>
          <a:p>
            <a:pPr indent="0" marL="0">
              <a:buNone/>
            </a:pPr>
            <a:r>
              <a:rPr lang="en-US" sz="1600" dirty="0">
                <a:solidFill>
                  <a:srgbClr val="1C2230"/>
                </a:solidFill>
              </a:rPr>
              <a:t>O gênero influencia a previsão. Antes de qualquer uso real: auditoria de equidade e validação jurídica.</a:t>
            </a:r>
            <a:endParaRPr lang="en-US" sz="4000" dirty="0"/>
          </a:p>
        </p:txBody>
      </p:sp>
      <p:sp>
        <p:nvSpPr>
          <p:cNvPr id="10" name="titulo fluxo"/>
          <p:cNvSpPr txBox="1"/>
          <p:nvPr/>
        </p:nvSpPr>
        <p:spPr>
          <a:xfrm>
            <a:off x="548640" y="4892040"/>
            <a:ext cx="1828800" cy="365760"/>
          </a:xfrm>
          <a:prstGeom prst="rect">
            <a:avLst/>
          </a:prstGeom>
          <a:noFill/>
          <a:ln/>
        </p:spPr>
        <p:txBody>
          <a:bodyPr wrap="square" lIns="0" tIns="0" rIns="0" bIns="0" rtlCol="0" anchor="ctr"/>
          <a:lstStyle/>
          <a:p>
            <a:pPr indent="0" marL="0">
              <a:buNone/>
            </a:pPr>
            <a:r>
              <a:rPr lang="en-US" sz="1600" b="1" dirty="0">
                <a:solidFill>
                  <a:srgbClr val="1C2230"/>
                </a:solidFill>
              </a:rPr>
              <a:t>Como usar:</a:t>
            </a:r>
            <a:endParaRPr lang="en-US" sz="1600" dirty="0"/>
          </a:p>
        </p:txBody>
      </p:sp>
      <p:sp>
        <p:nvSpPr>
          <p:cNvPr id="11" name="etapa fluxo 1"/>
          <p:cNvSpPr/>
          <p:nvPr/>
        </p:nvSpPr>
        <p:spPr>
          <a:xfrm>
            <a:off x="548640" y="5303520"/>
            <a:ext cx="3520440" cy="731520"/>
          </a:xfrm>
          <a:prstGeom prst="roundRect">
            <a:avLst>
              <a:gd name="adj" fmla="val 10000"/>
            </a:avLst>
          </a:prstGeom>
          <a:solidFill>
            <a:srgbClr val="D9E7E5"/>
          </a:solidFill>
          <a:ln w="12700">
            <a:solidFill>
              <a:srgbClr val="D9E7E5"/>
            </a:solidFill>
            <a:prstDash val="solid"/>
          </a:ln>
        </p:spPr>
      </p:sp>
      <p:pic>
        <p:nvPicPr>
          <p:cNvPr id="12" name="Image 0" descr="Pedido chega">    </p:cNvPr>
          <p:cNvPicPr>
            <a:picLocks noChangeAspect="1"/>
          </p:cNvPicPr>
          <p:nvPr/>
        </p:nvPicPr>
        <p:blipFill>
          <a:blip r:embed="rId1"/>
          <a:stretch>
            <a:fillRect/>
          </a:stretch>
        </p:blipFill>
        <p:spPr>
          <a:xfrm>
            <a:off x="822960" y="5486400"/>
            <a:ext cx="365760" cy="365760"/>
          </a:xfrm>
          <a:prstGeom prst="rect">
            <a:avLst/>
          </a:prstGeom>
        </p:spPr>
      </p:pic>
      <p:sp>
        <p:nvSpPr>
          <p:cNvPr id="13" name="texto fluxo 1"/>
          <p:cNvSpPr txBox="1"/>
          <p:nvPr/>
        </p:nvSpPr>
        <p:spPr>
          <a:xfrm>
            <a:off x="1371600" y="5303520"/>
            <a:ext cx="2560320" cy="731520"/>
          </a:xfrm>
          <a:prstGeom prst="rect">
            <a:avLst/>
          </a:prstGeom>
          <a:noFill/>
          <a:ln/>
        </p:spPr>
        <p:txBody>
          <a:bodyPr wrap="square" lIns="0" tIns="0" rIns="0" bIns="0" rtlCol="0" anchor="ctr"/>
          <a:lstStyle/>
          <a:p>
            <a:pPr indent="0" marL="0">
              <a:buNone/>
            </a:pPr>
            <a:r>
              <a:rPr lang="en-US" sz="1600" b="1" dirty="0">
                <a:solidFill>
                  <a:srgbClr val="1C2230"/>
                </a:solidFill>
              </a:rPr>
              <a:t>Pedido chega</a:t>
            </a:r>
            <a:endParaRPr lang="en-US" sz="1600" dirty="0"/>
          </a:p>
        </p:txBody>
      </p:sp>
      <p:sp>
        <p:nvSpPr>
          <p:cNvPr id="14" name="seta fluxo 1"/>
          <p:cNvSpPr txBox="1"/>
          <p:nvPr/>
        </p:nvSpPr>
        <p:spPr>
          <a:xfrm>
            <a:off x="4069080" y="5303520"/>
            <a:ext cx="228600" cy="731520"/>
          </a:xfrm>
          <a:prstGeom prst="rect">
            <a:avLst/>
          </a:prstGeom>
          <a:noFill/>
          <a:ln/>
        </p:spPr>
        <p:txBody>
          <a:bodyPr wrap="square" lIns="0" tIns="0" rIns="0" bIns="0" rtlCol="0" anchor="ctr"/>
          <a:lstStyle/>
          <a:p>
            <a:pPr algn="ctr" indent="0" marL="0">
              <a:buNone/>
            </a:pPr>
            <a:r>
              <a:rPr lang="en-US" sz="2000" b="1" dirty="0">
                <a:solidFill>
                  <a:srgbClr val="5B6272"/>
                </a:solidFill>
              </a:rPr>
              <a:t>→</a:t>
            </a:r>
            <a:endParaRPr lang="en-US" sz="2000" dirty="0"/>
          </a:p>
        </p:txBody>
      </p:sp>
      <p:sp>
        <p:nvSpPr>
          <p:cNvPr id="15" name="etapa fluxo 2"/>
          <p:cNvSpPr/>
          <p:nvPr/>
        </p:nvSpPr>
        <p:spPr>
          <a:xfrm>
            <a:off x="4297680" y="5303520"/>
            <a:ext cx="3520440" cy="731520"/>
          </a:xfrm>
          <a:prstGeom prst="roundRect">
            <a:avLst>
              <a:gd name="adj" fmla="val 10000"/>
            </a:avLst>
          </a:prstGeom>
          <a:solidFill>
            <a:srgbClr val="D9E7E5"/>
          </a:solidFill>
          <a:ln w="12700">
            <a:solidFill>
              <a:srgbClr val="D9E7E5"/>
            </a:solidFill>
            <a:prstDash val="solid"/>
          </a:ln>
        </p:spPr>
      </p:sp>
      <p:pic>
        <p:nvPicPr>
          <p:cNvPr id="16" name="Image 1" descr="Modelo ordena pelo risco">    </p:cNvPr>
          <p:cNvPicPr>
            <a:picLocks noChangeAspect="1"/>
          </p:cNvPicPr>
          <p:nvPr/>
        </p:nvPicPr>
        <p:blipFill>
          <a:blip r:embed="rId2"/>
          <a:stretch>
            <a:fillRect/>
          </a:stretch>
        </p:blipFill>
        <p:spPr>
          <a:xfrm>
            <a:off x="4572000" y="5486400"/>
            <a:ext cx="365760" cy="365760"/>
          </a:xfrm>
          <a:prstGeom prst="rect">
            <a:avLst/>
          </a:prstGeom>
        </p:spPr>
      </p:pic>
      <p:sp>
        <p:nvSpPr>
          <p:cNvPr id="17" name="texto fluxo 2"/>
          <p:cNvSpPr txBox="1"/>
          <p:nvPr/>
        </p:nvSpPr>
        <p:spPr>
          <a:xfrm>
            <a:off x="5120640" y="5303520"/>
            <a:ext cx="2560320" cy="731520"/>
          </a:xfrm>
          <a:prstGeom prst="rect">
            <a:avLst/>
          </a:prstGeom>
          <a:noFill/>
          <a:ln/>
        </p:spPr>
        <p:txBody>
          <a:bodyPr wrap="square" lIns="0" tIns="0" rIns="0" bIns="0" rtlCol="0" anchor="ctr"/>
          <a:lstStyle/>
          <a:p>
            <a:pPr indent="0" marL="0">
              <a:buNone/>
            </a:pPr>
            <a:r>
              <a:rPr lang="en-US" sz="1600" b="1" dirty="0">
                <a:solidFill>
                  <a:srgbClr val="1C2230"/>
                </a:solidFill>
              </a:rPr>
              <a:t>Modelo ordena pelo risco</a:t>
            </a:r>
            <a:endParaRPr lang="en-US" sz="1600" dirty="0"/>
          </a:p>
        </p:txBody>
      </p:sp>
      <p:sp>
        <p:nvSpPr>
          <p:cNvPr id="18" name="seta fluxo 2"/>
          <p:cNvSpPr txBox="1"/>
          <p:nvPr/>
        </p:nvSpPr>
        <p:spPr>
          <a:xfrm>
            <a:off x="7818120" y="5303520"/>
            <a:ext cx="228600" cy="731520"/>
          </a:xfrm>
          <a:prstGeom prst="rect">
            <a:avLst/>
          </a:prstGeom>
          <a:noFill/>
          <a:ln/>
        </p:spPr>
        <p:txBody>
          <a:bodyPr wrap="square" lIns="0" tIns="0" rIns="0" bIns="0" rtlCol="0" anchor="ctr"/>
          <a:lstStyle/>
          <a:p>
            <a:pPr algn="ctr" indent="0" marL="0">
              <a:buNone/>
            </a:pPr>
            <a:r>
              <a:rPr lang="en-US" sz="2000" b="1" dirty="0">
                <a:solidFill>
                  <a:srgbClr val="5B6272"/>
                </a:solidFill>
              </a:rPr>
              <a:t>→</a:t>
            </a:r>
            <a:endParaRPr lang="en-US" sz="2000" dirty="0"/>
          </a:p>
        </p:txBody>
      </p:sp>
      <p:sp>
        <p:nvSpPr>
          <p:cNvPr id="19" name="etapa fluxo 3"/>
          <p:cNvSpPr/>
          <p:nvPr/>
        </p:nvSpPr>
        <p:spPr>
          <a:xfrm>
            <a:off x="8046720" y="5303520"/>
            <a:ext cx="3520440" cy="731520"/>
          </a:xfrm>
          <a:prstGeom prst="roundRect">
            <a:avLst>
              <a:gd name="adj" fmla="val 10000"/>
            </a:avLst>
          </a:prstGeom>
          <a:solidFill>
            <a:srgbClr val="0F5C57"/>
          </a:solidFill>
          <a:ln w="12700">
            <a:solidFill>
              <a:srgbClr val="0F5C57"/>
            </a:solidFill>
            <a:prstDash val="solid"/>
          </a:ln>
        </p:spPr>
      </p:sp>
      <p:pic>
        <p:nvPicPr>
          <p:cNvPr id="20" name="Image 2" descr="Analista decide">    </p:cNvPr>
          <p:cNvPicPr>
            <a:picLocks noChangeAspect="1"/>
          </p:cNvPicPr>
          <p:nvPr/>
        </p:nvPicPr>
        <p:blipFill>
          <a:blip r:embed="rId3"/>
          <a:stretch>
            <a:fillRect/>
          </a:stretch>
        </p:blipFill>
        <p:spPr>
          <a:xfrm>
            <a:off x="8321040" y="5486400"/>
            <a:ext cx="365760" cy="365760"/>
          </a:xfrm>
          <a:prstGeom prst="rect">
            <a:avLst/>
          </a:prstGeom>
        </p:spPr>
      </p:pic>
      <p:sp>
        <p:nvSpPr>
          <p:cNvPr id="21" name="texto fluxo 3"/>
          <p:cNvSpPr txBox="1"/>
          <p:nvPr/>
        </p:nvSpPr>
        <p:spPr>
          <a:xfrm>
            <a:off x="8869680" y="5303520"/>
            <a:ext cx="2560320" cy="731520"/>
          </a:xfrm>
          <a:prstGeom prst="rect">
            <a:avLst/>
          </a:prstGeom>
          <a:noFill/>
          <a:ln/>
        </p:spPr>
        <p:txBody>
          <a:bodyPr wrap="square" lIns="0" tIns="0" rIns="0" bIns="0" rtlCol="0" anchor="ctr"/>
          <a:lstStyle/>
          <a:p>
            <a:pPr indent="0" marL="0">
              <a:buNone/>
            </a:pPr>
            <a:r>
              <a:rPr lang="en-US" sz="1600" b="1" dirty="0">
                <a:solidFill>
                  <a:srgbClr val="FFFFFF"/>
                </a:solidFill>
              </a:rPr>
              <a:t>Analista decide</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320040"/>
          </a:xfrm>
          <a:prstGeom prst="rect">
            <a:avLst/>
          </a:prstGeom>
          <a:noFill/>
          <a:ln/>
        </p:spPr>
        <p:txBody>
          <a:bodyPr wrap="square" lIns="0" tIns="0" rIns="0" bIns="0" rtlCol="0"/>
          <a:lstStyle/>
          <a:p>
            <a:pPr indent="0" marL="0">
              <a:buNone/>
            </a:pPr>
            <a:r>
              <a:rPr lang="en-US" sz="1200" b="1" spc="200" kern="0" dirty="0">
                <a:solidFill>
                  <a:srgbClr val="9FD3CC"/>
                </a:solidFill>
              </a:rPr>
              <a:t>09 · CONCLUSÃO</a:t>
            </a:r>
            <a:endParaRPr lang="en-US" sz="1200" dirty="0"/>
          </a:p>
        </p:txBody>
      </p:sp>
      <p:sp>
        <p:nvSpPr>
          <p:cNvPr id="3" name="Text 0"/>
          <p:cNvSpPr/>
          <p:nvPr>
            <p:ph idx="101" type="title" hasCustomPrompt="1"/>
          </p:nvPr>
        </p:nvSpPr>
        <p:spPr>
          <a:xfrm>
            <a:off x="640080" y="804672"/>
            <a:ext cx="10972800" cy="7315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Conclusões e próximos passos</a:t>
            </a:r>
            <a:endParaRPr lang="en-US" sz="3600" dirty="0"/>
          </a:p>
        </p:txBody>
      </p:sp>
      <p:sp>
        <p:nvSpPr>
          <p:cNvPr id="4" name="titulo conclusoes"/>
          <p:cNvSpPr txBox="1"/>
          <p:nvPr/>
        </p:nvSpPr>
        <p:spPr>
          <a:xfrm>
            <a:off x="640080" y="1691640"/>
            <a:ext cx="6217920" cy="411480"/>
          </a:xfrm>
          <a:prstGeom prst="rect">
            <a:avLst/>
          </a:prstGeom>
          <a:noFill/>
          <a:ln/>
        </p:spPr>
        <p:txBody>
          <a:bodyPr wrap="square" lIns="0" tIns="0" rIns="0" bIns="0" rtlCol="0" anchor="ctr"/>
          <a:lstStyle/>
          <a:p>
            <a:pPr indent="0" marL="0">
              <a:buNone/>
            </a:pPr>
            <a:r>
              <a:rPr lang="en-US" sz="1800" b="1" dirty="0">
                <a:solidFill>
                  <a:srgbClr val="9FD3CC"/>
                </a:solidFill>
              </a:rPr>
              <a:t>O que concluímos</a:t>
            </a:r>
            <a:endParaRPr lang="en-US" sz="1800" dirty="0"/>
          </a:p>
        </p:txBody>
      </p:sp>
      <p:sp>
        <p:nvSpPr>
          <p:cNvPr id="5" name="circulo conclusao 1"/>
          <p:cNvSpPr/>
          <p:nvPr/>
        </p:nvSpPr>
        <p:spPr>
          <a:xfrm>
            <a:off x="640080" y="2286000"/>
            <a:ext cx="640080" cy="640080"/>
          </a:xfrm>
          <a:prstGeom prst="ellipse">
            <a:avLst/>
          </a:prstGeom>
          <a:solidFill>
            <a:srgbClr val="E9B44C"/>
          </a:solidFill>
          <a:ln w="12700">
            <a:solidFill>
              <a:srgbClr val="E9B44C"/>
            </a:solidFill>
            <a:prstDash val="solid"/>
          </a:ln>
        </p:spPr>
      </p:sp>
      <p:pic>
        <p:nvPicPr>
          <p:cNvPr id="6" name="Image 0" descr="O modelo funciona">    </p:cNvPr>
          <p:cNvPicPr>
            <a:picLocks noChangeAspect="1"/>
          </p:cNvPicPr>
          <p:nvPr/>
        </p:nvPicPr>
        <p:blipFill>
          <a:blip r:embed="rId1"/>
          <a:stretch>
            <a:fillRect/>
          </a:stretch>
        </p:blipFill>
        <p:spPr>
          <a:xfrm>
            <a:off x="795528" y="2441448"/>
            <a:ext cx="329184" cy="329184"/>
          </a:xfrm>
          <a:prstGeom prst="rect">
            <a:avLst/>
          </a:prstGeom>
        </p:spPr>
      </p:pic>
      <p:sp>
        <p:nvSpPr>
          <p:cNvPr id="7" name="conclusao 1"/>
          <p:cNvSpPr txBox="1"/>
          <p:nvPr/>
        </p:nvSpPr>
        <p:spPr>
          <a:xfrm>
            <a:off x="1508760" y="2240280"/>
            <a:ext cx="5394960" cy="1051560"/>
          </a:xfrm>
          <a:prstGeom prst="rect">
            <a:avLst/>
          </a:prstGeom>
          <a:noFill/>
          <a:ln/>
        </p:spPr>
        <p:txBody>
          <a:bodyPr wrap="square" lIns="0" tIns="0" rIns="0" bIns="0" rtlCol="0" anchor="t"/>
          <a:lstStyle/>
          <a:p>
            <a:pPr indent="0" marL="0">
              <a:buNone/>
            </a:pPr>
            <a:r>
              <a:rPr lang="en-US" sz="1800" b="1" dirty="0">
                <a:solidFill>
                  <a:srgbClr val="FFFFFF"/>
                </a:solidFill>
              </a:rPr>
              <a:t>O modelo funciona</a:t>
            </a:r>
            <a:endParaRPr lang="en-US" sz="1800" dirty="0"/>
          </a:p>
          <a:p>
            <a:pPr indent="0" marL="0">
              <a:buNone/>
            </a:pPr>
            <a:r>
              <a:rPr lang="en-US" sz="1500" dirty="0">
                <a:solidFill>
                  <a:srgbClr val="D9E7E5"/>
                </a:solidFill>
              </a:rPr>
              <a:t>XGBoost com nota 0,80 em clientes nunca vistos, contra 0,50 do sorteio</a:t>
            </a:r>
            <a:endParaRPr lang="en-US" sz="1800" dirty="0"/>
          </a:p>
        </p:txBody>
      </p:sp>
      <p:sp>
        <p:nvSpPr>
          <p:cNvPr id="8" name="circulo conclusao 2"/>
          <p:cNvSpPr/>
          <p:nvPr/>
        </p:nvSpPr>
        <p:spPr>
          <a:xfrm>
            <a:off x="640080" y="3474720"/>
            <a:ext cx="640080" cy="640080"/>
          </a:xfrm>
          <a:prstGeom prst="ellipse">
            <a:avLst/>
          </a:prstGeom>
          <a:solidFill>
            <a:srgbClr val="E9B44C"/>
          </a:solidFill>
          <a:ln w="12700">
            <a:solidFill>
              <a:srgbClr val="E9B44C"/>
            </a:solidFill>
            <a:prstDash val="solid"/>
          </a:ln>
        </p:spPr>
      </p:sp>
      <p:pic>
        <p:nvPicPr>
          <p:cNvPr id="9" name="Image 1" descr="Gera valor na prática">    </p:cNvPr>
          <p:cNvPicPr>
            <a:picLocks noChangeAspect="1"/>
          </p:cNvPicPr>
          <p:nvPr/>
        </p:nvPicPr>
        <p:blipFill>
          <a:blip r:embed="rId2"/>
          <a:stretch>
            <a:fillRect/>
          </a:stretch>
        </p:blipFill>
        <p:spPr>
          <a:xfrm>
            <a:off x="795528" y="3630168"/>
            <a:ext cx="329184" cy="329184"/>
          </a:xfrm>
          <a:prstGeom prst="rect">
            <a:avLst/>
          </a:prstGeom>
        </p:spPr>
      </p:pic>
      <p:sp>
        <p:nvSpPr>
          <p:cNvPr id="10" name="conclusao 2"/>
          <p:cNvSpPr txBox="1"/>
          <p:nvPr/>
        </p:nvSpPr>
        <p:spPr>
          <a:xfrm>
            <a:off x="1508760" y="3429000"/>
            <a:ext cx="5394960" cy="1051560"/>
          </a:xfrm>
          <a:prstGeom prst="rect">
            <a:avLst/>
          </a:prstGeom>
          <a:noFill/>
          <a:ln/>
        </p:spPr>
        <p:txBody>
          <a:bodyPr wrap="square" lIns="0" tIns="0" rIns="0" bIns="0" rtlCol="0" anchor="t"/>
          <a:lstStyle/>
          <a:p>
            <a:pPr indent="0" marL="0">
              <a:buNone/>
            </a:pPr>
            <a:r>
              <a:rPr lang="en-US" sz="1800" b="1" dirty="0">
                <a:solidFill>
                  <a:srgbClr val="FFFFFF"/>
                </a:solidFill>
              </a:rPr>
              <a:t>Gera valor na prática</a:t>
            </a:r>
            <a:endParaRPr lang="en-US" sz="1800" dirty="0"/>
          </a:p>
          <a:p>
            <a:pPr indent="0" marL="0">
              <a:buNone/>
            </a:pPr>
            <a:r>
              <a:rPr lang="en-US" sz="1500" dirty="0">
                <a:solidFill>
                  <a:srgbClr val="D9E7E5"/>
                </a:solidFill>
              </a:rPr>
              <a:t>Revisando 20% dos pedidos, a equipe acha 64% dos maus pagadores: 3,2 vezes o acaso</a:t>
            </a:r>
            <a:endParaRPr lang="en-US" sz="1800" dirty="0"/>
          </a:p>
        </p:txBody>
      </p:sp>
      <p:sp>
        <p:nvSpPr>
          <p:cNvPr id="11" name="circulo conclusao 3"/>
          <p:cNvSpPr/>
          <p:nvPr/>
        </p:nvSpPr>
        <p:spPr>
          <a:xfrm>
            <a:off x="640080" y="4663440"/>
            <a:ext cx="640080" cy="640080"/>
          </a:xfrm>
          <a:prstGeom prst="ellipse">
            <a:avLst/>
          </a:prstGeom>
          <a:solidFill>
            <a:srgbClr val="E9B44C"/>
          </a:solidFill>
          <a:ln w="12700">
            <a:solidFill>
              <a:srgbClr val="E9B44C"/>
            </a:solidFill>
            <a:prstDash val="solid"/>
          </a:ln>
        </p:spPr>
      </p:sp>
      <p:pic>
        <p:nvPicPr>
          <p:cNvPr id="12" name="Image 2" descr="Quem prevê é o histórico">    </p:cNvPr>
          <p:cNvPicPr>
            <a:picLocks noChangeAspect="1"/>
          </p:cNvPicPr>
          <p:nvPr/>
        </p:nvPicPr>
        <p:blipFill>
          <a:blip r:embed="rId3"/>
          <a:stretch>
            <a:fillRect/>
          </a:stretch>
        </p:blipFill>
        <p:spPr>
          <a:xfrm>
            <a:off x="795528" y="4818888"/>
            <a:ext cx="329184" cy="329184"/>
          </a:xfrm>
          <a:prstGeom prst="rect">
            <a:avLst/>
          </a:prstGeom>
        </p:spPr>
      </p:pic>
      <p:sp>
        <p:nvSpPr>
          <p:cNvPr id="13" name="conclusao 3"/>
          <p:cNvSpPr txBox="1"/>
          <p:nvPr/>
        </p:nvSpPr>
        <p:spPr>
          <a:xfrm>
            <a:off x="1508760" y="4617720"/>
            <a:ext cx="5394960" cy="1051560"/>
          </a:xfrm>
          <a:prstGeom prst="rect">
            <a:avLst/>
          </a:prstGeom>
          <a:noFill/>
          <a:ln/>
        </p:spPr>
        <p:txBody>
          <a:bodyPr wrap="square" lIns="0" tIns="0" rIns="0" bIns="0" rtlCol="0" anchor="t"/>
          <a:lstStyle/>
          <a:p>
            <a:pPr indent="0" marL="0">
              <a:buNone/>
            </a:pPr>
            <a:r>
              <a:rPr lang="en-US" sz="1800" b="1" dirty="0">
                <a:solidFill>
                  <a:srgbClr val="FFFFFF"/>
                </a:solidFill>
              </a:rPr>
              <a:t>Quem prevê é o histórico</a:t>
            </a:r>
            <a:endParaRPr lang="en-US" sz="1800" dirty="0"/>
          </a:p>
          <a:p>
            <a:pPr indent="0" marL="0">
              <a:buNone/>
            </a:pPr>
            <a:r>
              <a:rPr lang="en-US" sz="1500" dirty="0">
                <a:solidFill>
                  <a:srgbClr val="D9E7E5"/>
                </a:solidFill>
              </a:rPr>
              <a:t>Só com o cadastro, a nota cai para 0,59. O modelo vale para quem já é cliente</a:t>
            </a:r>
            <a:endParaRPr lang="en-US" sz="1800" dirty="0"/>
          </a:p>
        </p:txBody>
      </p:sp>
      <p:sp>
        <p:nvSpPr>
          <p:cNvPr id="14" name="card proximos passos"/>
          <p:cNvSpPr/>
          <p:nvPr/>
        </p:nvSpPr>
        <p:spPr>
          <a:xfrm>
            <a:off x="7406640" y="1691640"/>
            <a:ext cx="4251960" cy="4343400"/>
          </a:xfrm>
          <a:prstGeom prst="roundRect">
            <a:avLst>
              <a:gd name="adj" fmla="val 1720"/>
            </a:avLst>
          </a:prstGeom>
          <a:solidFill>
            <a:srgbClr val="175651"/>
          </a:solidFill>
          <a:ln w="12700">
            <a:solidFill>
              <a:srgbClr val="175651"/>
            </a:solidFill>
            <a:prstDash val="solid"/>
          </a:ln>
        </p:spPr>
      </p:sp>
      <p:sp>
        <p:nvSpPr>
          <p:cNvPr id="15" name="titulo passos"/>
          <p:cNvSpPr txBox="1"/>
          <p:nvPr/>
        </p:nvSpPr>
        <p:spPr>
          <a:xfrm>
            <a:off x="7680960" y="1874520"/>
            <a:ext cx="3749040" cy="411480"/>
          </a:xfrm>
          <a:prstGeom prst="rect">
            <a:avLst/>
          </a:prstGeom>
          <a:noFill/>
          <a:ln/>
        </p:spPr>
        <p:txBody>
          <a:bodyPr wrap="square" lIns="0" tIns="0" rIns="0" bIns="0" rtlCol="0" anchor="ctr"/>
          <a:lstStyle/>
          <a:p>
            <a:pPr indent="0" marL="0">
              <a:buNone/>
            </a:pPr>
            <a:r>
              <a:rPr lang="en-US" sz="1800" b="1" dirty="0">
                <a:solidFill>
                  <a:srgbClr val="9FD3CC"/>
                </a:solidFill>
              </a:rPr>
              <a:t>Próximos passos</a:t>
            </a:r>
            <a:endParaRPr lang="en-US" sz="1800" dirty="0"/>
          </a:p>
        </p:txBody>
      </p:sp>
      <p:sp>
        <p:nvSpPr>
          <p:cNvPr id="16" name="numero passo 1"/>
          <p:cNvSpPr/>
          <p:nvPr/>
        </p:nvSpPr>
        <p:spPr>
          <a:xfrm>
            <a:off x="7680960" y="2514600"/>
            <a:ext cx="548640" cy="548640"/>
          </a:xfrm>
          <a:prstGeom prst="ellipse">
            <a:avLst/>
          </a:prstGeom>
          <a:solidFill>
            <a:srgbClr val="E9B44C"/>
          </a:solidFill>
          <a:ln w="12700">
            <a:solidFill>
              <a:srgbClr val="E9B44C"/>
            </a:solidFill>
            <a:prstDash val="solid"/>
          </a:ln>
        </p:spPr>
      </p:sp>
      <p:sp>
        <p:nvSpPr>
          <p:cNvPr id="17" name="digito passo 1"/>
          <p:cNvSpPr txBox="1"/>
          <p:nvPr/>
        </p:nvSpPr>
        <p:spPr>
          <a:xfrm>
            <a:off x="7680960" y="2514600"/>
            <a:ext cx="548640" cy="548640"/>
          </a:xfrm>
          <a:prstGeom prst="rect">
            <a:avLst/>
          </a:prstGeom>
          <a:noFill/>
          <a:ln/>
        </p:spPr>
        <p:txBody>
          <a:bodyPr wrap="square" lIns="0" tIns="0" rIns="0" bIns="0" rtlCol="0" anchor="ctr"/>
          <a:lstStyle/>
          <a:p>
            <a:pPr algn="ctr" indent="0" marL="0">
              <a:buNone/>
            </a:pPr>
            <a:r>
              <a:rPr lang="en-US" sz="1800" b="1" dirty="0">
                <a:solidFill>
                  <a:srgbClr val="0B3D3A"/>
                </a:solidFill>
              </a:rPr>
              <a:t>1</a:t>
            </a:r>
            <a:endParaRPr lang="en-US" sz="1800" dirty="0"/>
          </a:p>
        </p:txBody>
      </p:sp>
      <p:sp>
        <p:nvSpPr>
          <p:cNvPr id="18" name="passo 1"/>
          <p:cNvSpPr txBox="1"/>
          <p:nvPr/>
        </p:nvSpPr>
        <p:spPr>
          <a:xfrm>
            <a:off x="8412480" y="2468880"/>
            <a:ext cx="3063240" cy="914400"/>
          </a:xfrm>
          <a:prstGeom prst="rect">
            <a:avLst/>
          </a:prstGeom>
          <a:noFill/>
          <a:ln/>
        </p:spPr>
        <p:txBody>
          <a:bodyPr wrap="square" lIns="0" tIns="0" rIns="0" bIns="0" rtlCol="0" anchor="t"/>
          <a:lstStyle/>
          <a:p>
            <a:pPr indent="0" marL="0">
              <a:buNone/>
            </a:pPr>
            <a:r>
              <a:rPr lang="en-US" sz="1500" dirty="0">
                <a:solidFill>
                  <a:srgbClr val="FFFFFF"/>
                </a:solidFill>
              </a:rPr>
              <a:t>Piloto: ordenar a fila de análise pelo risco e medir o ganho</a:t>
            </a:r>
            <a:endParaRPr lang="en-US" sz="1500" dirty="0"/>
          </a:p>
        </p:txBody>
      </p:sp>
      <p:sp>
        <p:nvSpPr>
          <p:cNvPr id="19" name="numero passo 2"/>
          <p:cNvSpPr/>
          <p:nvPr/>
        </p:nvSpPr>
        <p:spPr>
          <a:xfrm>
            <a:off x="7680960" y="3657600"/>
            <a:ext cx="548640" cy="548640"/>
          </a:xfrm>
          <a:prstGeom prst="ellipse">
            <a:avLst/>
          </a:prstGeom>
          <a:solidFill>
            <a:srgbClr val="E9B44C"/>
          </a:solidFill>
          <a:ln w="12700">
            <a:solidFill>
              <a:srgbClr val="E9B44C"/>
            </a:solidFill>
            <a:prstDash val="solid"/>
          </a:ln>
        </p:spPr>
      </p:sp>
      <p:sp>
        <p:nvSpPr>
          <p:cNvPr id="20" name="digito passo 2"/>
          <p:cNvSpPr txBox="1"/>
          <p:nvPr/>
        </p:nvSpPr>
        <p:spPr>
          <a:xfrm>
            <a:off x="7680960" y="3657600"/>
            <a:ext cx="548640" cy="548640"/>
          </a:xfrm>
          <a:prstGeom prst="rect">
            <a:avLst/>
          </a:prstGeom>
          <a:noFill/>
          <a:ln/>
        </p:spPr>
        <p:txBody>
          <a:bodyPr wrap="square" lIns="0" tIns="0" rIns="0" bIns="0" rtlCol="0" anchor="ctr"/>
          <a:lstStyle/>
          <a:p>
            <a:pPr algn="ctr" indent="0" marL="0">
              <a:buNone/>
            </a:pPr>
            <a:r>
              <a:rPr lang="en-US" sz="1800" b="1" dirty="0">
                <a:solidFill>
                  <a:srgbClr val="0B3D3A"/>
                </a:solidFill>
              </a:rPr>
              <a:t>2</a:t>
            </a:r>
            <a:endParaRPr lang="en-US" sz="1800" dirty="0"/>
          </a:p>
        </p:txBody>
      </p:sp>
      <p:sp>
        <p:nvSpPr>
          <p:cNvPr id="21" name="passo 2"/>
          <p:cNvSpPr txBox="1"/>
          <p:nvPr/>
        </p:nvSpPr>
        <p:spPr>
          <a:xfrm>
            <a:off x="8412480" y="3611880"/>
            <a:ext cx="3063240" cy="914400"/>
          </a:xfrm>
          <a:prstGeom prst="rect">
            <a:avLst/>
          </a:prstGeom>
          <a:noFill/>
          <a:ln/>
        </p:spPr>
        <p:txBody>
          <a:bodyPr wrap="square" lIns="0" tIns="0" rIns="0" bIns="0" rtlCol="0" anchor="t"/>
          <a:lstStyle/>
          <a:p>
            <a:pPr indent="0" marL="0">
              <a:buNone/>
            </a:pPr>
            <a:r>
              <a:rPr lang="en-US" sz="1500" dirty="0">
                <a:solidFill>
                  <a:srgbClr val="FFFFFF"/>
                </a:solidFill>
              </a:rPr>
              <a:t>Definir o ponto de corte com a área de risco e auditar a equidade</a:t>
            </a:r>
            <a:endParaRPr lang="en-US" sz="1500" dirty="0"/>
          </a:p>
        </p:txBody>
      </p:sp>
      <p:sp>
        <p:nvSpPr>
          <p:cNvPr id="22" name="numero passo 3"/>
          <p:cNvSpPr/>
          <p:nvPr/>
        </p:nvSpPr>
        <p:spPr>
          <a:xfrm>
            <a:off x="7680960" y="4800600"/>
            <a:ext cx="548640" cy="548640"/>
          </a:xfrm>
          <a:prstGeom prst="ellipse">
            <a:avLst/>
          </a:prstGeom>
          <a:solidFill>
            <a:srgbClr val="E9B44C"/>
          </a:solidFill>
          <a:ln w="12700">
            <a:solidFill>
              <a:srgbClr val="E9B44C"/>
            </a:solidFill>
            <a:prstDash val="solid"/>
          </a:ln>
        </p:spPr>
      </p:sp>
      <p:sp>
        <p:nvSpPr>
          <p:cNvPr id="23" name="digito passo 3"/>
          <p:cNvSpPr txBox="1"/>
          <p:nvPr/>
        </p:nvSpPr>
        <p:spPr>
          <a:xfrm>
            <a:off x="7680960" y="4800600"/>
            <a:ext cx="548640" cy="548640"/>
          </a:xfrm>
          <a:prstGeom prst="rect">
            <a:avLst/>
          </a:prstGeom>
          <a:noFill/>
          <a:ln/>
        </p:spPr>
        <p:txBody>
          <a:bodyPr wrap="square" lIns="0" tIns="0" rIns="0" bIns="0" rtlCol="0" anchor="ctr"/>
          <a:lstStyle/>
          <a:p>
            <a:pPr algn="ctr" indent="0" marL="0">
              <a:buNone/>
            </a:pPr>
            <a:r>
              <a:rPr lang="en-US" sz="1800" b="1" dirty="0">
                <a:solidFill>
                  <a:srgbClr val="0B3D3A"/>
                </a:solidFill>
              </a:rPr>
              <a:t>3</a:t>
            </a:r>
            <a:endParaRPr lang="en-US" sz="1800" dirty="0"/>
          </a:p>
        </p:txBody>
      </p:sp>
      <p:sp>
        <p:nvSpPr>
          <p:cNvPr id="24" name="passo 3"/>
          <p:cNvSpPr txBox="1"/>
          <p:nvPr/>
        </p:nvSpPr>
        <p:spPr>
          <a:xfrm>
            <a:off x="8412480" y="4754880"/>
            <a:ext cx="3063240" cy="914400"/>
          </a:xfrm>
          <a:prstGeom prst="rect">
            <a:avLst/>
          </a:prstGeom>
          <a:noFill/>
          <a:ln/>
        </p:spPr>
        <p:txBody>
          <a:bodyPr wrap="square" lIns="0" tIns="0" rIns="0" bIns="0" rtlCol="0" anchor="t"/>
          <a:lstStyle/>
          <a:p>
            <a:pPr indent="0" marL="0">
              <a:buNone/>
            </a:pPr>
            <a:r>
              <a:rPr lang="en-US" sz="1500" dirty="0">
                <a:solidFill>
                  <a:srgbClr val="FFFFFF"/>
                </a:solidFill>
              </a:rPr>
              <a:t>Usar birôs de crédito para quem ainda não tem histórico</a:t>
            </a:r>
            <a:endParaRPr lang="en-US" sz="1500" dirty="0"/>
          </a:p>
        </p:txBody>
      </p:sp>
      <p:sp>
        <p:nvSpPr>
          <p:cNvPr id="25" name="obrigado"/>
          <p:cNvSpPr txBox="1"/>
          <p:nvPr/>
        </p:nvSpPr>
        <p:spPr>
          <a:xfrm>
            <a:off x="640080" y="5897880"/>
            <a:ext cx="6400800" cy="548640"/>
          </a:xfrm>
          <a:prstGeom prst="rect">
            <a:avLst/>
          </a:prstGeom>
          <a:noFill/>
          <a:ln/>
        </p:spPr>
        <p:txBody>
          <a:bodyPr wrap="square" lIns="0" tIns="0" rIns="0" bIns="0" rtlCol="0" anchor="ctr"/>
          <a:lstStyle/>
          <a:p>
            <a:pPr indent="0" marL="0">
              <a:buNone/>
            </a:pPr>
            <a:r>
              <a:rPr lang="en-US" sz="2600" b="1" dirty="0">
                <a:solidFill>
                  <a:srgbClr val="E9B44C"/>
                </a:solidFill>
                <a:latin typeface="Cambria" pitchFamily="34" charset="0"/>
                <a:ea typeface="Cambria" pitchFamily="34" charset="-122"/>
                <a:cs typeface="Cambria" pitchFamily="34" charset="-120"/>
              </a:rPr>
              <a:t>Obrigado!  ·  Grupo 12</a:t>
            </a:r>
            <a:endParaRPr lang="en-US" sz="2600" dirty="0"/>
          </a:p>
        </p:txBody>
      </p:sp>
    </p:spTree>
  </p:cSld>
  <p:clrMapOvr>
    <a:masterClrMapping/>
  </p:clrMapOvr>
</p:sld>
</file>

<file path=ppt/theme/theme1.xml><?xml version="1.0" encoding="utf-8"?>
<a:theme xmlns:a="http://schemas.openxmlformats.org/drawingml/2006/main" name="Grupo 12 Credito">
  <a:themeElements>
    <a:clrScheme name="Grupo 12 Credito">
      <a:dk1>
        <a:srgbClr val="1C2230"/>
      </a:dk1>
      <a:lt1>
        <a:srgbClr val="FFFFFF"/>
      </a:lt1>
      <a:dk2>
        <a:srgbClr val="0B3D3A"/>
      </a:dk2>
      <a:lt2>
        <a:srgbClr val="EEF4F3"/>
      </a:lt2>
      <a:accent1>
        <a:srgbClr val="0F5C57"/>
      </a:accent1>
      <a:accent2>
        <a:srgbClr val="B0412E"/>
      </a:accent2>
      <a:accent3>
        <a:srgbClr val="8A93A3"/>
      </a:accent3>
      <a:accent4>
        <a:srgbClr val="5FA39B"/>
      </a:accent4>
      <a:accent5>
        <a:srgbClr val="D9E7E5"/>
      </a:accent5>
      <a:accent6>
        <a:srgbClr val="E9B44C"/>
      </a:accent6>
      <a:hlink>
        <a:srgbClr val="0F5C57"/>
      </a:hlink>
      <a:folHlink>
        <a:srgbClr val="5B6272"/>
      </a:folHlink>
    </a:clrScheme>
    <a:fontScheme name="Grupo 12 Credit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Quem vai pagar a fatura? - Tech Challenge Fase 2</dc:title>
  <dc:subject>PptxGenJS Presentation</dc:subject>
  <dc:creator>Grupo 12 - 12DTAT</dc:creator>
  <cp:lastModifiedBy>Grupo 12 - 12DTAT</cp:lastModifiedBy>
  <cp:revision>1</cp:revision>
  <dcterms:created xsi:type="dcterms:W3CDTF">2026-10-07T01:01:49Z</dcterms:created>
  <dcterms:modified xsi:type="dcterms:W3CDTF">2026-10-07T01:01:49Z</dcterms:modified>
</cp:coreProperties>
</file>